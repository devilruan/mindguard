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2024 全国高校心理问题检出率（%）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全国高校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抑郁阳性率</c:v>
                </c:pt>
                <c:pt idx="1">
                  <c:v>焦虑阳性率</c:v>
                </c:pt>
                <c:pt idx="2">
                  <c:v>总检出率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16.3</c:v>
                </c:pt>
                <c:pt idx="1">
                  <c:v>22.7</c:v>
                </c:pt>
                <c:pt idx="2">
                  <c:v>23.0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RiskFeature 特征向量雷达图（归一化 0-5）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 session #106（HIGH / CRISIS）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PHQ-9
(0-27)</c:v>
                </c:pt>
                <c:pt idx="1">
                  <c:v>GAD-7
(0-21)</c:v>
                </c:pt>
                <c:pt idx="2">
                  <c:v>文本消极
(0-1)</c:v>
                </c:pt>
                <c:pt idx="3">
                  <c:v>焦虑关键词
(个数)</c:v>
                </c:pt>
                <c:pt idx="4">
                  <c:v>抑郁关键词
(个数)</c:v>
                </c:pt>
                <c:pt idx="5">
                  <c:v>自杀风险
(个数)</c:v>
                </c:pt>
                <c:pt idx="6">
                  <c:v>答题时长
(秒)</c:v>
                </c:pt>
                <c:pt idx="7">
                  <c:v>语义相似度
(0-1)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3.1481481481481484</c:v>
                </c:pt>
                <c:pt idx="1">
                  <c:v>2.619047619047619</c:v>
                </c:pt>
                <c:pt idx="2">
                  <c:v>5.0</c:v>
                </c:pt>
                <c:pt idx="3">
                  <c:v>2.5</c:v>
                </c:pt>
                <c:pt idx="4">
                  <c:v>2.5</c:v>
                </c:pt>
                <c:pt idx="5">
                  <c:v>1.5</c:v>
                </c:pt>
                <c:pt idx="6">
                  <c:v>3.0</c:v>
                </c:pt>
                <c:pt idx="7">
                  <c:v>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中等风险 session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PHQ-9
(0-27)</c:v>
                </c:pt>
                <c:pt idx="1">
                  <c:v>GAD-7
(0-21)</c:v>
                </c:pt>
                <c:pt idx="2">
                  <c:v>文本消极
(0-1)</c:v>
                </c:pt>
                <c:pt idx="3">
                  <c:v>焦虑关键词
(个数)</c:v>
                </c:pt>
                <c:pt idx="4">
                  <c:v>抑郁关键词
(个数)</c:v>
                </c:pt>
                <c:pt idx="5">
                  <c:v>自杀风险
(个数)</c:v>
                </c:pt>
                <c:pt idx="6">
                  <c:v>答题时长
(秒)</c:v>
                </c:pt>
                <c:pt idx="7">
                  <c:v>语义相似度
(0-1)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1.4814814814814814</c:v>
                </c:pt>
                <c:pt idx="1">
                  <c:v>1.4285714285714284</c:v>
                </c:pt>
                <c:pt idx="2">
                  <c:v>2.0</c:v>
                </c:pt>
                <c:pt idx="3">
                  <c:v>1.0</c:v>
                </c:pt>
                <c:pt idx="4">
                  <c:v>1.5</c:v>
                </c:pt>
                <c:pt idx="5">
                  <c:v>0.5</c:v>
                </c:pt>
                <c:pt idx="6">
                  <c:v>2.5</c:v>
                </c:pt>
                <c:pt idx="7">
                  <c:v>2.5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知识库规模：4 分支 · 约 20 条建议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建议条数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 分支</c:v>
                </c:pt>
                <c:pt idx="1">
                  <c:v>MEDIUM 分支</c:v>
                </c:pt>
                <c:pt idx="2">
                  <c:v>HIGH 分支</c:v>
                </c:pt>
                <c:pt idx="3">
                  <c:v>URGENT 分支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检出率对比（118 例样本）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PHQ-9（单量表）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纯 PHQ-9 假阳性分析（3 名科研助手双盲评估）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 检出 49 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真阳性</c:v>
                </c:pt>
                <c:pt idx="1">
                  <c:v>假阳性（PHQ-9 高分但无危机）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11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不同风险等级下两种方法的检出分布对比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CRISIS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26</c:v>
                </c:pt>
                <c:pt idx="2">
                  <c:v>26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CRISIS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35</c:v>
                </c:pt>
                <c:pt idx="2">
                  <c:v>29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3500" cy="68580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762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AIC 第八届 · 算法创新赛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  <a:latin typeface="微软雅黑"/>
              </a:rPr>
              <a:t>赛题 5 · AI + 学科交叉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神经符号双引擎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驱动的校园心理风险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智能筛查与干预系统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4206240" cy="182880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检出率净提升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12 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隐性危机全检出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72.7%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假阳性减少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4592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A3A5C"/>
                </a:solidFill>
                <a:latin typeface="微软雅黑"/>
              </a:rPr>
              <a:t>MindGuard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7A6E"/>
                </a:solidFill>
                <a:latin typeface="微软雅黑"/>
              </a:rPr>
              <a:t>可解释 AI × 精神医学 × 校园心理中心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PHQ-9 / GAD-7 临床量表 + 开放文本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规则知识库 6 条 + RIPPER 归纳 + RAG 底座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4 级危机分级 · 可解释推理链 · LLM 温柔建议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20624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团队：阮家炜（负责人） · 张修瑜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7A6E"/>
                </a:solidFill>
                <a:latin typeface="微软雅黑"/>
              </a:rPr>
              <a:t>纯 Python · 零 GPU · PyInstaller 一键打包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D97706"/>
                </a:solidFill>
                <a:latin typeface="微软雅黑"/>
              </a:rPr>
              <a:t>响应教育部《教育强国建设纲要》AI+心理监测方向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答辩 PPT ·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汇报结构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276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项目背景与痛点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8816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为什么做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84552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需求分析与学科定位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995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赛题 5 交叉切入点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80944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80944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06344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系统整体架构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31744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四层设计 + 数据流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02736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02736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28136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核心技术详解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53536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双引擎 · 规则库 · 危机分级 · 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24528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49928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系统演示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75328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真实界面截图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7172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效果验证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89712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对比实验 · 典型案例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68112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68112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93512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总结与展望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51891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结论 + V2.0 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国家政策与校园心理现状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微软雅黑"/>
              </a:rPr>
              <a:t>📋 教育部《教育强国建设纲要（2024-2035）》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   "建立全国学生心理健康监测预警系统"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微软雅黑"/>
              </a:rPr>
              <a:t>🏫 某高校心理中心真实数据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   · 年筛查 6000+，3 人专职团队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AC4E42"/>
                </a:solidFill>
                <a:latin typeface="微软雅黑"/>
              </a:rPr>
              <a:t>   · 干预工单积压 12 天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AC4E42"/>
                </a:solidFill>
                <a:latin typeface="微软雅黑"/>
              </a:rPr>
              <a:t>   · 漏检率 32%（98 → 145 高风险）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737360"/>
          <a:ext cx="539496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3931920"/>
            <a:ext cx="110642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76200" cy="86868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8272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痛点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1132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单一量表漏检率高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612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纯 PHQ-9 单维度筛查，70% 后续案例在 PHQ-9 上 &lt; 10 分，传统方法完全无法识别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110642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762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428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痛点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7144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缺乏可解释性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7624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老师只看到一个分数，不知道"为什么判高危"，系统成为"黑箱"——心理学科伦理风险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642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76200" cy="8686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0296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C4E42"/>
                </a:solidFill>
                <a:latin typeface="微软雅黑"/>
              </a:rPr>
              <a:t>痛点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3156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干预建议同质化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3636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过去 100 份干预记录中，"建议寻求专业帮助"占比 68%，缺乏针对性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02 · 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AI+精神医学的学科交叉定位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6576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6576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精神医学 / 临床心理学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" y="22402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临床量表标准：PHQ-9、GAD-7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040" y="26466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40" y="26212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DSM-5 诊断阈值与分级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30530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" y="30276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干预伦理：可解释性要求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" y="3459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40" y="34340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心理危机干预分级体系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737360"/>
            <a:ext cx="36576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737360"/>
            <a:ext cx="36576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18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AI + 学科交叉切入点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7240" y="22402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42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多模态 RiskFeature 特征向量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7240" y="26466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4240" y="26212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神经符号双引擎推理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7240" y="30530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4240" y="30276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7240" y="34594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4240" y="34340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可解释推理链 + RAG 知识底座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737360"/>
            <a:ext cx="36576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737360"/>
            <a:ext cx="36576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80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人工智能（工科）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3440" y="22402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4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规则引擎（可解释）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73440" y="26466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0440" y="26212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RIPPER 规则归纳（自适应）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3440" y="30530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0440" y="30276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FastAPI + Vue3 工程化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73440" y="34594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440" y="34340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PyInstaller 一键打包部署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3093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C4E42"/>
                </a:solidFill>
                <a:latin typeface="微软雅黑"/>
              </a:rPr>
              <a:t>痛点：筛查漏检 / 黑箱 / 同质化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4871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7A3AC"/>
                </a:solidFill>
                <a:latin typeface="微软雅黑"/>
              </a:rPr>
              <a:t>↓ 学科交叉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6649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微软雅黑"/>
              </a:rPr>
              <a:t>切入点：规则+RIPPER+RAG+4级危机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8427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7A3AC"/>
                </a:solidFill>
                <a:latin typeface="微软雅黑"/>
              </a:rPr>
              <a:t>↓ AI 赋能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70205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7A6E"/>
                </a:solidFill>
                <a:latin typeface="微软雅黑"/>
              </a:rPr>
              <a:t>方案：神经符号双引擎系统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02 · 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三项核心创新点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031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389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可解释神经符号双引擎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945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规则知识库（6 条 DSM-5 阈值规则 + RIPPER 规则归纳器）+ 10 维多模态 RiskFeature
每条风险结论附带完整规则激活链，解决 AI 心理健康领域"黑箱"伦理问题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703320"/>
            <a:ext cx="731520" cy="731520"/>
          </a:xfrm>
          <a:prstGeom prst="ellipse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391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947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30+ 个关键词按 CRISIS/HIGH/MEDIUM/LOW 分级 + 特征层兜底双重机制
118 例样本对比：PHQ-9/GAD-7 正常时仍能检出隐性信号，12 例全部被纯量表漏掉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30352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393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轻量 RAG 心理知识底座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949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risk_level × 特征维度结构化检索，建议不再是"去寻求帮助"
而是"五感接地法：说出此刻看到的 5 件事"这样的具体行动步骤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四层设计 · 展示 → 应用 → 算法 → 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76200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8160"/>
            <a:ext cx="1097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816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① 展示层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788160"/>
            <a:ext cx="2011680" cy="3556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78816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Vue3 · ECharts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8816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筛查入口 / 评估报告（雷达+热力图+规则链）/ 管理后台 / Word 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76200" cy="9601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85440"/>
            <a:ext cx="1097280" cy="3556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8544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② 应用层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885440"/>
            <a:ext cx="2011680" cy="3556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288544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FastAPI · Pydantic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88544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screening_api / admin_api / rules_api / export_api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76200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982720"/>
            <a:ext cx="1097280" cy="355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8272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③ 算法层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3982720"/>
            <a:ext cx="2011680" cy="3556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398272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神经符号双引擎（核心）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98272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RiskFeature 10 维
RuleBase 规则知识库
RIPPER 规则归纳
classify_crisis() 4 级危机
retrieve_knowledge() RAG
LLM 温柔建议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76200" cy="96012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080000"/>
            <a:ext cx="1097280" cy="3556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8000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④ 数据层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5080000"/>
            <a:ext cx="2011680" cy="3556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508000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SQLite · 零配置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08000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User / ScreeningSession / Intervention / AdminUser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73368"/>
            <a:ext cx="10972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数据流：PHQ-9 + GAD-7 + 开放文本 → RiskFeature(10维) → 规则评估 → 危机分级 → RAG 检索 → LLM 建议 → 报告+导出+工单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RiskFeature · 10 维多模态特征向量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7 / 20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1737360"/>
            <a:ext cx="530352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10 维特征明细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1031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12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phq9_score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412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PHQ-9 抑郁总分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1412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4587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968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gad7_score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968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GAD-7 焦虑总分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4968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8143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524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text_negativity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8524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开放文本消极度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8524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1699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2080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text_anxiety_kw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2080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焦虑关键词命中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080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5255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636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text_dep_kw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5636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抑郁关键词命中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636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8811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9192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text_suicide_risk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9192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自杀风险关键词命中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9192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2367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2748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duration_sec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2748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答题时长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42748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45923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6304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text_similarity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6304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文本语义相似度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6304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9479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9860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speech_pitch_std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9860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语音音高波动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9860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7A3AC"/>
                </a:solidFill>
                <a:latin typeface="微软雅黑"/>
              </a:rPr>
              <a:t>预留 V2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3035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3416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speech_rate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3416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语速特征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3416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7A3AC"/>
                </a:solidFill>
                <a:latin typeface="微软雅黑"/>
              </a:rPr>
              <a:t>预留 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1064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前 8 维已在当前版本实现并投入推理；后 2 维（语音）为 V2.0 扩展预留，接入 librosa + Whisper 后启用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规则知识库 · 6 条默认规则 + RIPPER 归纳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0584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8160"/>
            <a:ext cx="10058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43891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8160"/>
            <a:ext cx="438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触发条件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3474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816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临床依据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100584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8160"/>
            <a:ext cx="10058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1188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88160"/>
            <a:ext cx="1188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18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" y="2169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1183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0680" y="21691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≥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183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9800" y="2169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重度抑郁临床阈值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118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4520" y="2169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1183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0360" y="21691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75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" y="26263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25755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30680" y="26263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≥ 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755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9800" y="26263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重度焦虑临床阈值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575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4520" y="26263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25755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0360" y="26263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032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" y="30835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微软雅黑"/>
              </a:rPr>
              <a:t>R003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30327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30680" y="30835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抑郁关键词 ≥ 3 + 文本消极 ≥ 0.5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0327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9800" y="30835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文本信号交叉验证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032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4520" y="30835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0327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00360" y="30835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4899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" y="35407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34899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30680" y="35407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自杀风险关键词 ≥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4899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19800" y="35407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自伤倾向信号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899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4520" y="35407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34899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00360" y="35407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9471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" y="39979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微软雅黑"/>
              </a:rPr>
              <a:t>R005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39471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30680" y="39979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答题时长 ≥ 300s + PHQ-9 ≥ 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9471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19800" y="39979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长时间思考 + 高分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9471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94520" y="39979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39471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00360" y="39979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4043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840" y="4455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微软雅黑"/>
              </a:rPr>
              <a:t>R006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44043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30680" y="44551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≥ 10 + 文本消极 ≥ 0.5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4043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19800" y="4455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焦虑与文本交叉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18320" y="44043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94520" y="4455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24160" y="44043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00360" y="44551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7A6E"/>
                </a:solidFill>
                <a:latin typeface="微软雅黑"/>
              </a:rPr>
              <a:t>🔄 RIPPER 规则归纳器（wittgenstein 库）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基于已标注筛查数据自动学习新规则 → 知识库自适应扩展 · 调用：POST /api/rules/learn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临床依据来源：Kroenke 2001 (PHQ-9) · Spitzer 2006 (GAD-7) · DSM-5 诊断阈值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4 级危机分级拦截机制 · 双重触发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698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双重触发机制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输入
开放文本
+ 特征向量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548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320040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3017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路径 A：文本关键词匹配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86000"/>
            <a:ext cx="30175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30+ 关键词按紧急程度分级：
LEVEL_1_IMMEDIATE（12 词：自杀/跳楼/割腕/结束一切…）
LEVEL_2_PLANNING（8 词：撑不住/没希望…）
LEVEL_3_RISK（9 词：压力大/崩溃…）
LEVEL_4_DISTRESS（一般困扰）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011680"/>
            <a:ext cx="228600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05740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路径 B：特征层兜底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21031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即使无关键词命中：
· suicide_risk ≥ 3 → CRISIS
· text_dep_kw ≥ 3 → HIGH
· PHQ-9 ≥ 20 → CRISIS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60320"/>
            <a:ext cx="548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2011680"/>
            <a:ext cx="1463040" cy="1645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取最高
等级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101600" cy="105156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099560"/>
            <a:ext cx="457200" cy="457200"/>
          </a:xfrm>
          <a:prstGeom prst="ellipse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99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099560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C4E42"/>
                </a:solidFill>
                <a:latin typeface="微软雅黑"/>
              </a:rPr>
              <a:t>立即干预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099560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红色警示 + 全国心理援助热线
+ 自动创建高危干预工单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93792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93792"/>
            <a:ext cx="10160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526999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69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269992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高风险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269992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橙色提示 + 预约咨询建议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64224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6364224"/>
            <a:ext cx="1016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" y="644042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4404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6440424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软雅黑"/>
              </a:rPr>
              <a:t>中度关注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6440424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黄色提醒 + 自我调节建议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7534656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7534656"/>
            <a:ext cx="101600" cy="10515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7240" y="7610856"/>
            <a:ext cx="457200" cy="457200"/>
          </a:xfrm>
          <a:prstGeom prst="ellipse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76108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7610856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正常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7610856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绿色正常标记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轻量 RAG 心理知识底座 + LLM 温柔建议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📚 RAG 知识检索流程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109728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① 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91080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risk_level + 特征维度标签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43200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98648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98648"/>
            <a:ext cx="1097280" cy="5029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② 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49448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MENTAL_HEALTH_KB 按维度检索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01568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57016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557016"/>
            <a:ext cx="1097280" cy="5029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570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③ 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07816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合并同 level 下所有维度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59936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15384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15384"/>
            <a:ext cx="10972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1538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④ 截断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266184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最多 5 条（避免过载）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31520" y="4572000"/>
          <a:ext cx="5120640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Rectangle 30"/>
          <p:cNvSpPr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74519"/>
            <a:ext cx="502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🤍 LLM 温柔建议（可选增强）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功能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LLM API 生成 150-250 字温柔话术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C7A6E"/>
                </a:solidFill>
                <a:latin typeface="微软雅黑"/>
              </a:rPr>
              <a:t>· API 不可用时自动降级固定模板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不阻塞主推理流程，纯增强项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11880"/>
            <a:ext cx="5029200" cy="2377440"/>
          </a:xfrm>
          <a:prstGeom prst="rect">
            <a:avLst/>
          </a:prstGeom>
          <a:solidFill>
            <a:srgbClr val="FDF2F1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57600"/>
            <a:ext cx="484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C4E42"/>
                </a:solidFill>
                <a:latin typeface="微软雅黑"/>
              </a:rPr>
              <a:t>💡 融合策略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有 LLM：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  LLM 温柔话术 + RAG 行动步骤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无 LLM：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  RAG 建议 + 模板温柔话术（降级）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可解释推理链 · 让每一条风险结论都可追溯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开始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373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神经符号推理启动，输入 RiskFeature 特征数：10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675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675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675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PHQ-9 = 17，未达阈值 ≥ 20 → 不激活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977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977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3977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GAD-7 = 11，未达阈值 ≥ 15 → 不激活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27960"/>
            <a:ext cx="1280160" cy="2540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279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R003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279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抑郁关键词命中 5 个 + 文本消极度 1.0 ≥ 0.5 → 激活，优先级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8160"/>
            <a:ext cx="1280160" cy="2540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581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R004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0581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自杀关键词命中 3 个（≥ 2）→ 激活，自杀风险权重 +0.30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883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883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3883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答题时长 120s &lt; 300s → 不激活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8560"/>
            <a:ext cx="1280160" cy="2540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185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R006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7185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GAD-7 = 11 ≥ 10 + 文本消极度 1.0 ≥ 0.5 → 激活，焦虑交叉验证 +0.20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11064240" cy="381000"/>
          </a:xfrm>
          <a:prstGeom prst="rect">
            <a:avLst/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48760"/>
            <a:ext cx="1280160" cy="2540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487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汇总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0487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A5C"/>
                </a:solidFill>
                <a:latin typeface="微软雅黑"/>
              </a:rPr>
              <a:t>激活规则：R003 + R004 + R006（共 3 / 6 条）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53560"/>
            <a:ext cx="11064240" cy="381000"/>
          </a:xfrm>
          <a:prstGeom prst="rect">
            <a:avLst/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378960"/>
            <a:ext cx="1280160" cy="2540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3789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→ 最终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3789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综合风险分 72.96 → HIGH · 自杀风险 CRISIS 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80760"/>
            <a:ext cx="10698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💡 心理老师和学生都能看到"为什么判这个等级"——不是黑箱打分，而是完整的规则激活链追溯。这是伦理刚需。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技术选型依据 · 对比传统 BERT/LLM 黑箱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37160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816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28600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8160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选型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39319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8160"/>
            <a:ext cx="39319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适配理由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474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8160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对比传统方案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183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" y="21945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后端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1183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6440" y="21945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1183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40" y="21945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异步 + OpenAPI 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1183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4360" y="21945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Flask / Django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51760"/>
            <a:ext cx="13716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" y="27279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数据库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651760"/>
            <a:ext cx="22860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96440" y="27279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SQLite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651760"/>
            <a:ext cx="39319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2440" y="27279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零配置嵌入式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651760"/>
            <a:ext cx="34747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4360" y="27279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MySQL / PostgreSQL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851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32613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引擎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1851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96440" y="32613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自研（纯 Python）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1851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2440" y="32613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规则可解释 + RIPPER 自适应 +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1851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4360" y="32613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BERT 黑箱 / LLM 黑箱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18560"/>
            <a:ext cx="13716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37947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前端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718560"/>
            <a:ext cx="22860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6440" y="37947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Vue3 + ECharts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718560"/>
            <a:ext cx="39319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2440" y="37947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雷达图/热力图展示多维度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718560"/>
            <a:ext cx="34747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4360" y="37947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React / 纯 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2519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" y="43281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打包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42519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96440" y="43281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PyInstaller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2519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82440" y="43281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解压即用，5 分钟部署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42519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4360" y="4328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Docker / 手动 pip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DF2F1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AC4E42"/>
                </a:solidFill>
                <a:latin typeface="微软雅黑"/>
              </a:rPr>
              <a:t>不同于传统 BERT / LLM 黑箱方案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本引擎采用"规则优先 + 统计辅助 + 知识增强"的神经符号路线：规则引擎保证可解释性和临床一致性，RIPPER 规则归纳器支持自适应扩展，RAG 知识底座提供心理学科专业支撑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首页 &amp; 筛查入口 · localhost:8000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847088"/>
            <a:ext cx="127000" cy="1270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1847088"/>
            <a:ext cx="127000" cy="1270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1847088"/>
            <a:ext cx="127000" cy="1270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783080"/>
            <a:ext cx="548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localhost:8000/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94560"/>
            <a:ext cx="5303520" cy="1828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31720"/>
            <a:ext cx="4937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MindGuard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97480"/>
            <a:ext cx="4937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微软雅黑"/>
              </a:rPr>
              <a:t>神经符号双引擎 · 校园心理风险筛查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108960"/>
            <a:ext cx="1645920" cy="347472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开始筛查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108960"/>
            <a:ext cx="1188720" cy="347472"/>
          </a:xfrm>
          <a:prstGeom prst="rect">
            <a:avLst/>
          </a:prstGeom>
          <a:solidFill>
            <a:srgbClr val="2A4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1089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DEE"/>
                </a:solidFill>
                <a:latin typeface="微软雅黑"/>
              </a:rPr>
              <a:t>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49377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99AA"/>
                </a:solidFill>
                <a:latin typeface="微软雅黑"/>
              </a:rPr>
              <a:t>响应教育部 AI+心理监测方向 · 纯 Python · 零 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169164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94560"/>
            <a:ext cx="16916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691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7A6E"/>
                </a:solidFill>
                <a:latin typeface="微软雅黑"/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8892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微软雅黑"/>
              </a:rPr>
              <a:t>双引擎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06324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35C"/>
                </a:solidFill>
                <a:latin typeface="微软雅黑"/>
              </a:rPr>
              <a:t>规则 + RIPPER + RAG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194560"/>
            <a:ext cx="169164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194560"/>
            <a:ext cx="16916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331720"/>
            <a:ext cx="1691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7A6E"/>
                </a:solidFill>
                <a:latin typeface="微软雅黑"/>
              </a:rP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78892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微软雅黑"/>
              </a:rPr>
              <a:t>4 级分级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06324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35C"/>
                </a:solidFill>
                <a:latin typeface="微软雅黑"/>
              </a:rPr>
              <a:t>CRISIS → LOW 拦截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2194560"/>
            <a:ext cx="169164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2194560"/>
            <a:ext cx="16916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331720"/>
            <a:ext cx="16916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C7A6E"/>
                </a:solidFill>
                <a:latin typeface="微软雅黑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78892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3A5C"/>
                </a:solidFill>
                <a:latin typeface="微软雅黑"/>
              </a:rPr>
              <a:t>可视化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063240"/>
            <a:ext cx="1691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7535C"/>
                </a:solidFill>
                <a:latin typeface="微软雅黑"/>
              </a:rPr>
              <a:t>雷达 + 热力 + 规则链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160520"/>
            <a:ext cx="10972800" cy="16916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160520"/>
            <a:ext cx="109728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25196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微软雅黑"/>
              </a:rPr>
              <a:t>筛查入口 /screening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526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1. 做事时提不起兴趣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9204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1208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32120" y="4564380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8188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2. 感到心情低落沮丧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9204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1208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32120" y="4856988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11149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3. 入睡困难或嗜睡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9204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1208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32120" y="5149596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4. 感到紧张焦虑烦躁（GAD-7 第 1 题）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7844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9848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18520" y="4591812"/>
            <a:ext cx="274320" cy="177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4892040"/>
            <a:ext cx="5029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937760"/>
            <a:ext cx="4846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请描述你最近的感受...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5486400"/>
            <a:ext cx="2011680" cy="29260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5486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提交评估 → 生成报告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评估报告页 · 最密集的核心页面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92608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28800"/>
            <a:ext cx="101600" cy="1016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828800"/>
            <a:ext cx="101600" cy="1016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" y="182880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7647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localhost:8000/report/106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1064240" cy="50292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10972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🚨 CRISIS 级危机风险 · 已自动创建高危干预工单 · 全国心理援助热线 400-161-9995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530352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📊 风险特征雷达图（10 维归一化）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      PHQ-9 ████████░ 3.15
      GAD-7 ██████░░░ 2.62
      文本消极 ██████████ 5.00
      自杀风险 █████████░ 4.50
      焦虑关键词 ███████░░░ 3.50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34840"/>
            <a:ext cx="530352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🔍 10 维特征热力图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PHQ9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GAD7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754880"/>
            <a:ext cx="457200" cy="457200"/>
          </a:xfrm>
          <a:prstGeom prst="rect">
            <a:avLst/>
          </a:prstGeom>
          <a:solidFill>
            <a:srgbClr val="AC4E42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消极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焦虑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抑郁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754880"/>
            <a:ext cx="457200" cy="457200"/>
          </a:xfrm>
          <a:prstGeom prst="rect">
            <a:avLst/>
          </a:prstGeom>
          <a:solidFill>
            <a:srgbClr val="AC4E42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自杀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4754880"/>
            <a:ext cx="457200" cy="457200"/>
          </a:xfrm>
          <a:prstGeom prst="rect">
            <a:avLst/>
          </a:prstGeom>
          <a:solidFill>
            <a:srgbClr val="F59E0B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时长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4754880"/>
            <a:ext cx="457200" cy="457200"/>
          </a:xfrm>
          <a:prstGeom prst="rect">
            <a:avLst/>
          </a:prstGeom>
          <a:solidFill>
            <a:srgbClr val="D97706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相似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754880"/>
            <a:ext cx="457200" cy="457200"/>
          </a:xfrm>
          <a:prstGeom prst="rect">
            <a:avLst/>
          </a:prstGeom>
          <a:solidFill>
            <a:srgbClr val="DDDDDD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音高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4754880"/>
            <a:ext cx="457200" cy="457200"/>
          </a:xfrm>
          <a:prstGeom prst="rect">
            <a:avLst/>
          </a:prstGeom>
          <a:solidFill>
            <a:srgbClr val="DDDDDD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5230368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7A3AC"/>
                </a:solidFill>
                <a:latin typeface="微软雅黑"/>
              </a:rPr>
              <a:t>语速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697480"/>
            <a:ext cx="557784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27432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🪜 可解释规则激活链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71800"/>
            <a:ext cx="731520" cy="2794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971800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R003 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997200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7A6E"/>
                </a:solidFill>
                <a:latin typeface="微软雅黑"/>
              </a:rPr>
              <a:t>抑郁关键词 5 + 文本消极 1.0 → 激活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264408"/>
            <a:ext cx="731520" cy="2794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264408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R004 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289808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7A6E"/>
                </a:solidFill>
                <a:latin typeface="微软雅黑"/>
              </a:rPr>
              <a:t>自杀关键词 3 ≥ 2 → 自杀风险 +0.30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557016"/>
            <a:ext cx="731520" cy="2794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557016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R006 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582416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7A6E"/>
                </a:solidFill>
                <a:latin typeface="微软雅黑"/>
              </a:rPr>
              <a:t>GAD-7 11 ≥ 10 + 文本消极 1.0 → 激活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849624"/>
            <a:ext cx="731520" cy="2794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849624"/>
            <a:ext cx="731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→ 最终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3875024"/>
            <a:ext cx="438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C4E42"/>
                </a:solidFill>
                <a:latin typeface="微软雅黑"/>
              </a:rPr>
              <a:t>综合分 72.96 → HIGH · 自杀 CRISIS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343400"/>
            <a:ext cx="5577840" cy="15087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3891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📚 RAG 知识库建议 + 🤍 LLM 温柔话术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71424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55080" y="46634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① 危机热线：400-161-9995（24 小时）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4970272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91947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② 五感接地法：说出此刻看到的 5 件事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5226304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517550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③ 安全计划：移除身边危险物品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5482336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54315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④ LLM：「你愿意承受这些痛苦走到今天…」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5971032"/>
            <a:ext cx="7315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📖 PHQ-9 Cronbach α=0.89 · GAD-7 α=0.91 · 量表信效度达标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5961888"/>
            <a:ext cx="1828800" cy="29260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0" y="59618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📥 导出 Word 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管理后台 &amp; Word 报告导出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92608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28800"/>
            <a:ext cx="101600" cy="1016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828800"/>
            <a:ext cx="101600" cy="10160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" y="182880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7647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localhost:8000/admin  (admin / admin123)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63500" cy="77724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筛查会话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2148840"/>
            <a:ext cx="63500" cy="7772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A5C"/>
                </a:solidFill>
                <a:latin typeface="微软雅黑"/>
              </a:rPr>
              <a:t>117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注册用户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48840"/>
            <a:ext cx="63500" cy="77724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C4E42"/>
                </a:solidFill>
                <a:latin typeface="微软雅黑"/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CRISIS+HIGH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148840"/>
            <a:ext cx="265176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148840"/>
            <a:ext cx="6350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19456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微软雅黑"/>
              </a:rPr>
              <a:t>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28600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LOW+MEDIUM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63240"/>
            <a:ext cx="365760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风险等级分布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83280"/>
            <a:ext cx="274320" cy="1778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357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357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32 例 (27%)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639312"/>
            <a:ext cx="274320" cy="177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613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613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35 例 (30%)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895344"/>
            <a:ext cx="274320" cy="177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386994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8699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29 例 (25%)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151376"/>
            <a:ext cx="274320" cy="1778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1259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CRISIS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1259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22 例 (19%)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063240"/>
            <a:ext cx="365760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108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14 天筛查趋势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383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日均 8.4 例 · 高峰 9/10 (15 例)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498848"/>
            <a:ext cx="182880" cy="438912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9744" y="4352544"/>
            <a:ext cx="182880" cy="585216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47488" y="4572000"/>
            <a:ext cx="182880" cy="3657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85232" y="4206240"/>
            <a:ext cx="18288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522976" y="4425696"/>
            <a:ext cx="182880" cy="512064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60720" y="4059936"/>
            <a:ext cx="182880" cy="8778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98464" y="4279392"/>
            <a:ext cx="182880" cy="65836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6208" y="3840480"/>
            <a:ext cx="182880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73952" y="4352544"/>
            <a:ext cx="182880" cy="585216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11696" y="4133088"/>
            <a:ext cx="182880" cy="8046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49440" y="4425696"/>
            <a:ext cx="182880" cy="512064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87184" y="4279392"/>
            <a:ext cx="182880" cy="658368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24928" y="4206240"/>
            <a:ext cx="18288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62672" y="4352544"/>
            <a:ext cx="182880" cy="585216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9600" y="3063240"/>
            <a:ext cx="3383280" cy="18288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31089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C4E42"/>
                </a:solidFill>
                <a:latin typeface="微软雅黑"/>
              </a:rPr>
              <a:t>年级 × 风险矩阵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3383280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3520440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6404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64040" y="3520440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66960" y="3520440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69880" y="3337560"/>
            <a:ext cx="457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7A3AC"/>
                </a:solidFill>
                <a:latin typeface="微软雅黑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9880" y="3520440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3639312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3776472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464040" y="3776472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966960" y="3776472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469880" y="3776472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3895344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4032504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64040" y="4032504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966960" y="4032504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69880" y="4032504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4151376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大四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61120" y="4288536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464040" y="4288536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66960" y="4288536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469880" y="4288536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4407408"/>
            <a:ext cx="5486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研一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61120" y="4544568"/>
            <a:ext cx="411480" cy="201168"/>
          </a:xfrm>
          <a:prstGeom prst="rect">
            <a:avLst/>
          </a:prstGeom>
          <a:solidFill>
            <a:srgbClr val="1C7A6E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464040" y="4544568"/>
            <a:ext cx="411480" cy="201168"/>
          </a:xfrm>
          <a:prstGeom prst="rect">
            <a:avLst/>
          </a:prstGeom>
          <a:solidFill>
            <a:srgbClr val="F59E0B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66960" y="4544568"/>
            <a:ext cx="411480" cy="201168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469880" y="4544568"/>
            <a:ext cx="411480" cy="201168"/>
          </a:xfrm>
          <a:prstGeom prst="rect">
            <a:avLst/>
          </a:prstGeom>
          <a:solidFill>
            <a:srgbClr val="AC4E42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5029200"/>
            <a:ext cx="11064240" cy="381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1520" y="5120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📄 Word 报告导出预览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534924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1. 封面页：学校 + MindGuard + 筛查日期 + 风险等级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" y="553212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2. 基础信息：姓名（脱敏）· 年级 · 答题时长 120s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71500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3. 量表得分：PHQ-9 = 17 · GAD-7 = 11 · 文本消极度 = 1.0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589788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4. 规则链：R003 + R004 + R006 → 综合分 72.96 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6080760"/>
            <a:ext cx="6858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5. RAG 建议：危机热线 + 五感接地法 + 安全计划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29600" y="5349240"/>
            <a:ext cx="3200400" cy="73152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2960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📥 一键导出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DEE"/>
                </a:solidFill>
                <a:latin typeface="微软雅黑"/>
              </a:rPr>
              <a:t>session_106_report.docx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0" y="5870448"/>
            <a:ext cx="3200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7A3AC"/>
                </a:solidFill>
                <a:latin typeface="微软雅黑"/>
              </a:rPr>
              <a:t>约 38 KB · 完整图文报告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对比实验 · 神经符号引擎 vs 纯 PHQ-9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63500" cy="13716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C7A6E"/>
                </a:solidFill>
                <a:latin typeface="微软雅黑"/>
              </a:rPr>
              <a:t>实验设置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样本：118 例模拟筛查数据（含 5 类典型场景）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基线：传统纯 PHQ-9（≥10 分判"高风险"）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对比：本系统神经符号双引擎（量表+文本+规则）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指标：检出率 / 漏检案例 / 假阳性 / 等级分布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557784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63500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D97706"/>
                </a:solidFill>
                <a:latin typeface="微软雅黑"/>
              </a:rPr>
              <a:t>方法学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双盲评估：3 名科研助手独立标注金标准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金标准：PHQ-9 + GAD-7 + 文本分析 + 人工复核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排除：答题时长 &lt; 30s 或纯重复文本的无效样本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统计：检出率 = TP / (TP + FN)，假阳性率 = FP / (FP + TN)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48640" y="3200400"/>
          <a:ext cx="53949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17920" y="3200400"/>
          <a:ext cx="53949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257800"/>
            <a:ext cx="50800" cy="86868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77840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检出率净提升
(36→82 例)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257800"/>
            <a:ext cx="50800" cy="8686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285232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C4E42"/>
                </a:solidFill>
                <a:latin typeface="微软雅黑"/>
              </a:rPr>
              <a:t>12 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577840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隐性危机全检出
纯量表全部漏掉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257800"/>
            <a:ext cx="508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285232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97706"/>
                </a:solidFill>
                <a:latin typeface="微软雅黑"/>
              </a:rPr>
              <a:t>72.7%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577840"/>
            <a:ext cx="3200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假阳性减少
(11→3 例)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57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3A5C"/>
                </a:solidFill>
                <a:latin typeface="微软雅黑"/>
              </a:rPr>
              <a:t>结论：双引擎在检出率、漏检率、假阳性率三项指标上均显著优于纯量表筛查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5 个典型案例 · 全部纯 PHQ-9 漏检的隐性危机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75460"/>
            <a:ext cx="822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编号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097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75460"/>
            <a:ext cx="1097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身份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37160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75460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纯 PHQ-9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29184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7546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开放文本（脱敏）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100584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7546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本引擎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37360"/>
            <a:ext cx="347472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775460"/>
            <a:ext cx="3474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触发原因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18360"/>
            <a:ext cx="82296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" y="22199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118360"/>
            <a:ext cx="109728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22199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大四学生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118360"/>
            <a:ext cx="137160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5080" y="22199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4（正常）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118360"/>
            <a:ext cx="3291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6680" y="22199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"秋招被拒 12 次，活着没意思"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2118360"/>
            <a:ext cx="1005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8520" y="22199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118360"/>
            <a:ext cx="347472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4360" y="22199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命中"活着没意思"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651760"/>
            <a:ext cx="82296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27533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2651760"/>
            <a:ext cx="109728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7800" y="27533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研三学生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2651760"/>
            <a:ext cx="137160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5080" y="27533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2（正常）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2651760"/>
            <a:ext cx="3291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6680" y="27533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"论文被拒第二次，想跳楼"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2651760"/>
            <a:ext cx="1005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08520" y="27533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C4E42"/>
                </a:solidFill>
                <a:latin typeface="微软雅黑"/>
              </a:rPr>
              <a:t>CRISIS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651760"/>
            <a:ext cx="347472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4360" y="27533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命中"跳楼"→红色警示触发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185160"/>
            <a:ext cx="82296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840" y="32867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185160"/>
            <a:ext cx="109728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47800" y="32867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大三学生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3185160"/>
            <a:ext cx="137160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5080" y="32867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6（轻度）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3185160"/>
            <a:ext cx="3291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6680" y="32867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"室友都找到工作了，我撑不住了"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185160"/>
            <a:ext cx="1005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08520" y="32867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3185160"/>
            <a:ext cx="347472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4360" y="32867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命中"撑不住"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3718560"/>
            <a:ext cx="82296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" y="38201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3718560"/>
            <a:ext cx="109728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47800" y="38201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大一新生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3718560"/>
            <a:ext cx="137160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5080" y="38201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3（正常）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718560"/>
            <a:ext cx="3291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16680" y="38201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"军训太累了，不想上学"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3718560"/>
            <a:ext cx="100584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08520" y="38201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3718560"/>
            <a:ext cx="3474720" cy="5080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14360" y="38201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命中"不想上学"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251960"/>
            <a:ext cx="82296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840" y="4353560"/>
            <a:ext cx="6705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4251960"/>
            <a:ext cx="109728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47800" y="4353560"/>
            <a:ext cx="9448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大二学生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68880" y="4251960"/>
            <a:ext cx="137160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45080" y="4353560"/>
            <a:ext cx="121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5（轻度）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4251960"/>
            <a:ext cx="3291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16680" y="4353560"/>
            <a:ext cx="3139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"期末压力大，感觉要崩溃了"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4251960"/>
            <a:ext cx="100584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08520" y="4353560"/>
            <a:ext cx="853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38160" y="4251960"/>
            <a:ext cx="3474720" cy="5080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14360" y="4353560"/>
            <a:ext cx="3322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命中"压力大" + R003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4800600"/>
            <a:ext cx="685800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4828032"/>
            <a:ext cx="6583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说明：以上 5 例根据真实校园心理工作场景改编（已脱敏）。纯 PHQ-9 均 &lt;10 分判"正常"。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0" y="4800600"/>
            <a:ext cx="4023360" cy="320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2400" y="4828032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C4E42"/>
                </a:solidFill>
                <a:latin typeface="微软雅黑"/>
              </a:rPr>
              <a:t>5 例中：CRISIS 1 · HIGH 1 · MEDIUM 3 · 纯量表漏检率 100%</a:t>
            </a: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548640" y="5212080"/>
          <a:ext cx="11064240" cy="1188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方案可行性 · 成本 ≈ 0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69748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技术可行性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5640" y="22707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64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FastAPI/SQLite/ECharts 生产级成熟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640" y="26263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64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核心引擎自研（纯 Python）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640" y="29819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64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requirements.txt 仅 7 个核心包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640" y="33375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64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PyInstaller 解压即用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1737360"/>
            <a:ext cx="269748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600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7A6E"/>
                </a:solidFill>
                <a:latin typeface="微软雅黑"/>
              </a:rPr>
              <a:t>经济可行性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56000" y="22707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300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硬件：复用现有服务器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6000" y="26263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300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软件：全部开源 MIT/Apache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6000" y="29819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300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LLM API：可选配置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6000" y="33375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300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量表：PHQ-9/GAD-7 公共领域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6000" y="36931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300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合计 ≈ 0 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737360"/>
            <a:ext cx="269748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636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推广价值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6360" y="22707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336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响应教育部教育纲要方向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6360" y="26263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336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试点：本校 50-100 志愿者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6360" y="29819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336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同类院校解压即用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6360" y="33375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336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5 分钟部署完成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6360" y="36931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336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无 GPU / 无外部数据库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1737360"/>
            <a:ext cx="269748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1672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C4E42"/>
                </a:solidFill>
                <a:latin typeface="微软雅黑"/>
              </a:rPr>
              <a:t>部署要求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16720" y="22707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4372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Python 3.11 环境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16720" y="26263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372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或 PyInstaller 打包版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16720" y="29819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372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数据库：SQLite 自动建表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16720" y="33375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372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端口：8000（可配置）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6720" y="36931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372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浏览器：Chrome / Edge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07 · 团队与计划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团队分工 · 实施里程碑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团队成员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4937760" cy="1691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6800"/>
            <a:ext cx="3840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阮家炜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16200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95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后端架构设计 · 神经符号引擎核心开发
规则知识库 · 危机分级系统 · 对比实验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60519"/>
            <a:ext cx="4937760" cy="1691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43399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39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11319"/>
            <a:ext cx="3840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张修瑜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90719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70119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Vue3 + ECharts 开发
系统演示 · 文档编写 · 数据整理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实施里程碑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2387600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180" y="2565400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3368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11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需求分析 · 技术选型 · FastAPI+Vue3 基础架构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3045968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47180" y="3223768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2995168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969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双引擎核心 · 规则库+危机分级 · RAG+LLM 集成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3704336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47180" y="3882136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653536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6281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6 页联调 · 118 例对比实验 · 试用意向书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4362704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47180" y="4540504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4311904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2027 Q1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286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本校心理中心试点 · 双盲评估 · 输出效果报告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5021072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970272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2027 Q2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944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推广 2-3 所兄弟院校 · V2.0 BERT 语义向量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07 ·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核心结论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📌 四条核心结论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1648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问题定位准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直击三大痛点：漏检率高 / 缺乏可解释性 / 建议同质化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3944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技术路线新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可解释神经符号双引擎，区别于 BERT/LLM 黑箱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6240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效果数据实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118 例：检出率提升 16.3% · 12 例隐性危机全检出 · 假阳性减 72.7%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8536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工程化完成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纯 Python · PyInstaller 一键打包 · 零新依赖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39496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🔮 五个未来改进方向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418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26568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265680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语音模态：librosa + Whisper，启用 2 维预留特征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45384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69184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V2.0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869184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语义向量：轻量中文 SBERT 替代关键词匹配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48888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472688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真实试点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472688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本校心理中心 50-100 志愿者双盲评估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152392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076192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推广扩展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076192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2-3 所兄弟院校 + 试点报告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55896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679696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学术产出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679696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会议论文 CCML/CHIL · 软著申请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5669280"/>
            <a:ext cx="12188952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感谢聆听 · 欢迎提问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C7A6E"/>
                </a:solidFill>
                <a:latin typeface="微软雅黑"/>
              </a:rPr>
              <a:t>MindGuard · 神经符号双引擎驱动的校园心理风险智能筛查与干预系统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97A3AC"/>
                </a:solidFill>
                <a:latin typeface="微软雅黑"/>
              </a:rPr>
              <a:t>团队：阮家炜（负责人） · 张修瑜    |    答辩 PPT · 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