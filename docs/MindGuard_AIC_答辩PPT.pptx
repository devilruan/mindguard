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检出率对比（118 例样本）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 单量表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130552" cy="762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6200" cy="6858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A6E"/>
                </a:solidFill>
                <a:latin typeface="微软雅黑"/>
              </a:rPr>
              <a:t>AIC 第八届 · 算法创新赛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赛题 5 · AI + 学科交叉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神经符号双引擎驱动的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校园心理风险智能筛查
与干预系统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9456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C7A6E"/>
                </a:solidFill>
                <a:latin typeface="微软雅黑"/>
              </a:rPr>
              <a:t>MindGuard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A3A5C"/>
                </a:solidFill>
                <a:latin typeface="微软雅黑"/>
              </a:rPr>
              <a:t>可解释 AI × 精神医学 × 校园心理中心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47535C"/>
                </a:solidFill>
                <a:latin typeface="微软雅黑"/>
              </a:rPr>
              <a:t>融合 PHQ-9 / GAD-7 临床量表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47535C"/>
                </a:solidFill>
                <a:latin typeface="微软雅黑"/>
              </a:rPr>
              <a:t>规则知识库 + RIPPER 归纳 + RAG 知识底座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47535C"/>
                </a:solidFill>
                <a:latin typeface="微软雅黑"/>
              </a:rPr>
              <a:t>4 级危机分级 · 可解释推理链 · LLM 温柔建议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512064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微软雅黑"/>
              </a:rPr>
              <a:t>团队成员：阮家炜（负责人） · 张修瑜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97A3AC"/>
                </a:solidFill>
                <a:latin typeface="微软雅黑"/>
              </a:rPr>
              <a:t>提交单位：[请填写你的学校名称]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答辩 PPT ·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汇报结构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4564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项目背景与痛点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7104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为什么做 —— 校园心理中心三大核心痛点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8572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需求分析与学科定位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1112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赛题 5 AI+精神医学的交叉切入点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2580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系统整体架构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5120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四层设计：展示 → 应用 → 算法 → 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6588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核心技术详解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9128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神经符号双引擎 · 规则知识库 · 危机分级 · 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8056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0596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系统演示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3136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真实界面截图 + 功能展示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2064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4604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效果验证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17144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对比实验数据 · 典型案例 · 可行性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760720"/>
            <a:ext cx="609600" cy="609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6096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786120"/>
            <a:ext cx="3657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总结与展望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81152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核心结论 + 未来改进方向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01 ·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国家政策与校园心理现状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A3A5C"/>
                </a:solidFill>
                <a:latin typeface="微软雅黑"/>
              </a:rPr>
              <a:t>📋 教育部《教育强国建设规划纲要（2024—2035 年）》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   明确将"建立全国学生心理健康监测预警系统"列为重要建设任务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3A5C"/>
                </a:solidFill>
                <a:latin typeface="微软雅黑"/>
              </a:rPr>
              <a:t>📊 2024 年全国高校在校生心理问题检出率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A6E"/>
                </a:solidFill>
                <a:latin typeface="微软雅黑"/>
              </a:rPr>
              <a:t>   · 抑郁症状阳性率：16.3%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A6E"/>
                </a:solidFill>
                <a:latin typeface="微软雅黑"/>
              </a:rPr>
              <a:t>   · 焦虑症状阳性率：22.7%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   · 总检出率约 23%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3A5C"/>
                </a:solidFill>
                <a:latin typeface="微软雅黑"/>
              </a:rPr>
              <a:t>🏫 某高校心理中心年度数据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   · 年筛查量 6000+，3 人专职团队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AC4E42"/>
                </a:solidFill>
                <a:latin typeface="微软雅黑"/>
              </a:rPr>
              <a:t>   · 干预工单平均积压 12 天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AC4E42"/>
                </a:solidFill>
                <a:latin typeface="微软雅黑"/>
              </a:rPr>
              <a:t>   · 高风险 98 人 → 后续发现遗漏 47 人（漏检 32%）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12064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76200" cy="13716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87880"/>
            <a:ext cx="914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痛点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91080"/>
            <a:ext cx="4754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单一量表漏检率高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10180"/>
            <a:ext cx="47548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传统纯 PHQ-9 单维度筛查，70% 后续发现案例在 PHQ-9 上 &lt; 10 分，传统方法完全无法识别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456432"/>
            <a:ext cx="512064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456432"/>
            <a:ext cx="7620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532632"/>
            <a:ext cx="914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痛点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35832"/>
            <a:ext cx="4754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缺乏可解释性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54932"/>
            <a:ext cx="47548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老师只看到一个分数，不知道"为什么判高危"，系统成为黑箱——心理学科场景下的伦理风险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901184"/>
            <a:ext cx="512064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901184"/>
            <a:ext cx="76200" cy="1371600"/>
          </a:xfrm>
          <a:prstGeom prst="rect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977384"/>
            <a:ext cx="914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痛点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80584"/>
            <a:ext cx="4754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干预建议同质化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599684"/>
            <a:ext cx="47548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过去 100 份干预记录中，"建议寻求专业帮助"占比 68%，缺乏针对性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02 · 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AI+精神医学的学科交叉定位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56616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566160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2057400"/>
            <a:ext cx="33832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7A6E"/>
                </a:solidFill>
                <a:latin typeface="微软雅黑"/>
              </a:rPr>
              <a:t>精神医学 / 临床心理学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2514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临床量表标准：PHQ-9、GAD-7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" y="2895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DSM-5 诊断阈值与分级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3276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干预伦理（可解释性要求）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" y="3657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心理危机干预分级体系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920240"/>
            <a:ext cx="356616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920240"/>
            <a:ext cx="356616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960" y="2057400"/>
            <a:ext cx="33832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微软雅黑"/>
              </a:rPr>
              <a:t>AI+学科交叉切入点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960" y="2514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多模态 RiskFeature 特征向量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960" y="2895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神经符号双引擎推理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960" y="3276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960" y="3657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可解释推理链 + RAG 知识底座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920240"/>
            <a:ext cx="356616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920240"/>
            <a:ext cx="3566160" cy="50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3440" y="2057400"/>
            <a:ext cx="33832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人工智能（工科）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3440" y="2514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规则引擎（可解释）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3440" y="2895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RIPPER 规则归纳（自适应）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3440" y="3276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FastAPI + Vue3 工程化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3440" y="3657600"/>
            <a:ext cx="3383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PyInstaller 一键打包部署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02 · 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三项核心创新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21840"/>
            <a:ext cx="914400" cy="50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1840"/>
            <a:ext cx="914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96440"/>
            <a:ext cx="914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A5C"/>
                </a:solidFill>
                <a:latin typeface="微软雅黑"/>
              </a:rPr>
              <a:t>可解释神经符号双引擎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53640"/>
            <a:ext cx="9144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融合规则知识库（6 条 DSM-5 阈值规则 + RIPPER 规则归纳器）与 10 维多模态 RiskFeature，
每条风险结论附带完整规则激活链，解决 AI 心理健康领域"黑箱判断"伦理问题。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56432"/>
            <a:ext cx="108813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58032"/>
            <a:ext cx="914400" cy="508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58032"/>
            <a:ext cx="914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32632"/>
            <a:ext cx="914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A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89832"/>
            <a:ext cx="9144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文本关键词匹配（30+ 词，按 CRISIS/HIGH/MEDIUM/LOW 分级）+ 特征层兜底。
118 例样本对比：PHQ-9/GAD-7 显示"正常"时，本引擎仍能检出自杀倾向隐性信号，
12 例全部被纯量表法漏掉。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92624"/>
            <a:ext cx="1088136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94224"/>
            <a:ext cx="914400" cy="50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94224"/>
            <a:ext cx="914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68824"/>
            <a:ext cx="914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A5C"/>
                </a:solidFill>
                <a:latin typeface="微软雅黑"/>
              </a:rPr>
              <a:t>轻量 RAG 心理知识底座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26024"/>
            <a:ext cx="9144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基于 risk_level × 特征维度的结构化检索，干预建议不再是"建议寻求帮助"的同质化空话，
而是包含具体行动步骤的可执行建议（如"五感接地法：说出你此刻看到的 5 件事"）。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03 ·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四层设计：展示 → 应用 → 算法 → 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762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96440"/>
            <a:ext cx="10058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展示层 · Vue3 + ECharts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26640"/>
            <a:ext cx="1005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筛查入口 / 评估报告（雷达图+热力图+规则链）/ 管理后台 / Word 导出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880360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8813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6200" cy="100584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093720"/>
            <a:ext cx="10058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7A6E"/>
                </a:solidFill>
                <a:latin typeface="微软雅黑"/>
              </a:rPr>
              <a:t>应用层 · FastAPI + Pydantic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23920"/>
            <a:ext cx="1005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screening_api / admin_api / rules_api / export_api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977640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108813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762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191000"/>
            <a:ext cx="10058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/>
              </a:rPr>
              <a:t>算法层 · 神经符号双引擎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21200"/>
            <a:ext cx="1005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RiskFeature 10 维 → RuleBase 规则知识库 → RIPPER → classify_crisis()
→ retrieve_knowledge() RAG → LLM 温柔建议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74920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AC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212080"/>
            <a:ext cx="76200" cy="1005840"/>
          </a:xfrm>
          <a:prstGeom prst="rect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288280"/>
            <a:ext cx="100584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C4E42"/>
                </a:solidFill>
                <a:latin typeface="微软雅黑"/>
              </a:rPr>
              <a:t>数据层 · SQLite 嵌入式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618480"/>
            <a:ext cx="10058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User / ScreeningSession / Intervention / AdminUser · 零配置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RiskFeature · 10 维多模态特征向量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56032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71040"/>
            <a:ext cx="25603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特征名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365760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971040"/>
            <a:ext cx="3657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含义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228600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71040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取值范围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20240"/>
            <a:ext cx="237744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971040"/>
            <a:ext cx="23774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26640"/>
            <a:ext cx="256032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280" y="23774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phq9_score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326640"/>
            <a:ext cx="36576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6600" y="23774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抑郁总分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326640"/>
            <a:ext cx="22860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4200" y="23774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0-27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326640"/>
            <a:ext cx="237744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0200" y="23774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733040"/>
            <a:ext cx="256032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280" y="27838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gad7_score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733040"/>
            <a:ext cx="36576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6600" y="27838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焦虑总分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733040"/>
            <a:ext cx="22860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4200" y="27838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0-21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733040"/>
            <a:ext cx="237744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0200" y="27838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139440"/>
            <a:ext cx="256032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280" y="31902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text_negativity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139440"/>
            <a:ext cx="36576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6600" y="31902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开放文本消极度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139440"/>
            <a:ext cx="22860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4200" y="31902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0.0-1.0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139440"/>
            <a:ext cx="237744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0200" y="31902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545840"/>
            <a:ext cx="256032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280" y="35966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text_anxiety_kw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3545840"/>
            <a:ext cx="36576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6600" y="35966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焦虑关键词命中数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3545840"/>
            <a:ext cx="22860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34200" y="35966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整数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545840"/>
            <a:ext cx="237744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0200" y="35966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952240"/>
            <a:ext cx="256032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" y="40030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text_dep_kw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952240"/>
            <a:ext cx="36576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76600" y="40030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抑郁关键词命中数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952240"/>
            <a:ext cx="22860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34200" y="40030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整数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3952240"/>
            <a:ext cx="237744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20200" y="40030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358640"/>
            <a:ext cx="256032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6280" y="44094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text_suicide_risk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358640"/>
            <a:ext cx="36576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76600" y="44094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自杀风险关键词命中数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4358640"/>
            <a:ext cx="22860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34200" y="44094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整数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4358640"/>
            <a:ext cx="237744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20200" y="44094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4765040"/>
            <a:ext cx="256032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6280" y="48158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duration_sec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4765040"/>
            <a:ext cx="36576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76600" y="48158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答题时长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0" y="4765040"/>
            <a:ext cx="22860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34200" y="48158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0" y="4765040"/>
            <a:ext cx="237744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20200" y="48158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" y="5171440"/>
            <a:ext cx="256032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6280" y="52222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text_similarity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5171440"/>
            <a:ext cx="36576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76600" y="52222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文本语义相似度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8000" y="5171440"/>
            <a:ext cx="22860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34200" y="52222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0.0-1.0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0" y="5171440"/>
            <a:ext cx="237744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20200" y="52222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5577840"/>
            <a:ext cx="256032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6280" y="56286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speech_pitch_std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577840"/>
            <a:ext cx="36576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76600" y="56286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语音音高波动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58000" y="5577840"/>
            <a:ext cx="22860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34200" y="56286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Hz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0" y="5577840"/>
            <a:ext cx="237744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0200" y="56286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7A3AC"/>
                </a:solidFill>
                <a:latin typeface="微软雅黑"/>
              </a:rPr>
              <a:t>预留 V2.0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" y="5984240"/>
            <a:ext cx="256032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6280" y="6035040"/>
            <a:ext cx="2407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speech_rate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984240"/>
            <a:ext cx="36576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76600" y="6035040"/>
            <a:ext cx="350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语速特征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58000" y="5984240"/>
            <a:ext cx="22860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34200" y="6035040"/>
            <a:ext cx="213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字/秒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00" y="5984240"/>
            <a:ext cx="237744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20200" y="6035040"/>
            <a:ext cx="2225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7A3AC"/>
                </a:solidFill>
                <a:latin typeface="微软雅黑"/>
              </a:rPr>
              <a:t>预留 V2.0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说明：前 8 维已在当前版本实现并投入推理；后 2 维（语音）为 V2.0 扩展预留。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规则知识库 · 6 条默认规则 + RIPPER 归纳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28016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71040"/>
            <a:ext cx="12801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规则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920240"/>
            <a:ext cx="502920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971040"/>
            <a:ext cx="502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触发条件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920240"/>
            <a:ext cx="411480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971040"/>
            <a:ext cx="41148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临床依据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1920240"/>
            <a:ext cx="173736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1971040"/>
            <a:ext cx="17373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2664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680" y="2390140"/>
            <a:ext cx="1076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C4E42"/>
                </a:solidFill>
                <a:latin typeface="微软雅黑"/>
              </a:rPr>
              <a:t>R001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326640"/>
            <a:ext cx="50292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1840" y="2390140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PHQ-9 ≥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326640"/>
            <a:ext cx="41148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1040" y="2390140"/>
            <a:ext cx="391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重度抑郁临床阈值（Kroenke 2001）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0" y="2326640"/>
            <a:ext cx="17373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65840" y="2390140"/>
            <a:ext cx="1534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</a:rPr>
              <a:t>优先级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78384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680" y="2847340"/>
            <a:ext cx="1076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C4E42"/>
                </a:solidFill>
                <a:latin typeface="微软雅黑"/>
              </a:rPr>
              <a:t>R002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783840"/>
            <a:ext cx="50292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1840" y="2847340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GAD-7 ≥ 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783840"/>
            <a:ext cx="41148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1040" y="2847340"/>
            <a:ext cx="391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重度焦虑临床阈值（Spitzer 2006）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2783840"/>
            <a:ext cx="17373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65840" y="2847340"/>
            <a:ext cx="1534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</a:rPr>
              <a:t>优先级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24104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680" y="3304540"/>
            <a:ext cx="1076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R003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241040"/>
            <a:ext cx="50292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21840" y="3304540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抑郁关键词 ≥ 3 + 文本消极度 ≥ 0.5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241040"/>
            <a:ext cx="41148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1040" y="3304540"/>
            <a:ext cx="391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文本信号交叉验证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64240" y="3241040"/>
            <a:ext cx="17373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65840" y="3304540"/>
            <a:ext cx="1534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</a:rPr>
              <a:t>优先级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69824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680" y="3761740"/>
            <a:ext cx="1076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C4E42"/>
                </a:solidFill>
                <a:latin typeface="微软雅黑"/>
              </a:rPr>
              <a:t>R004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698240"/>
            <a:ext cx="50292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21840" y="3761740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自杀风险关键词 ≥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698240"/>
            <a:ext cx="41148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1040" y="3761740"/>
            <a:ext cx="391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自伤倾向信号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3698240"/>
            <a:ext cx="17373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65840" y="3761740"/>
            <a:ext cx="1534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</a:rPr>
              <a:t>优先级 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15544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1680" y="4218940"/>
            <a:ext cx="1076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微软雅黑"/>
              </a:rPr>
              <a:t>R005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4155440"/>
            <a:ext cx="50292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21840" y="4218940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答题时长 ≥ 300s + PHQ-9 ≥ 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155440"/>
            <a:ext cx="41148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40" y="4218940"/>
            <a:ext cx="391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长时间思考 + 高分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64240" y="4155440"/>
            <a:ext cx="17373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65840" y="4218940"/>
            <a:ext cx="1534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</a:rPr>
              <a:t>优先级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61264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1680" y="4676140"/>
            <a:ext cx="1076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R006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4612640"/>
            <a:ext cx="50292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1840" y="4676140"/>
            <a:ext cx="482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GAD-7 ≥ 10 + 文本消极度 ≥ 0.5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612640"/>
            <a:ext cx="41148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40" y="4676140"/>
            <a:ext cx="391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软雅黑"/>
              </a:rPr>
              <a:t>焦虑与文本交叉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64240" y="4612640"/>
            <a:ext cx="17373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65840" y="4676140"/>
            <a:ext cx="1534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软雅黑"/>
              </a:rPr>
              <a:t>优先级 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C7A6E"/>
                </a:solidFill>
                <a:latin typeface="微软雅黑"/>
              </a:rPr>
              <a:t>🔄 RIPPER 规则归纳器</a:t>
            </a:r>
          </a:p>
          <a:p>
            <a:pPr>
              <a:spcAft>
                <a:spcPts val="65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基于已标注筛查数据自动学习新规则，实现知识库自适应扩展。调用方式：POST /api/rules/learn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1600" cy="1051560"/>
          </a:xfrm>
          <a:prstGeom prst="rect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71040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C4E42"/>
                </a:solidFill>
                <a:latin typeface="微软雅黑"/>
              </a:rPr>
              <a:t>CRISIS (🚨)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01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立即干预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971040"/>
            <a:ext cx="4114800" cy="711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9710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7A3AC"/>
                </a:solidFill>
                <a:latin typeface="微软雅黑"/>
              </a:rPr>
              <a:t>触发条件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99640"/>
            <a:ext cx="40233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文本命中 12 个紧急关键词之一
（自杀 · 跳楼 · 割腕 · 结束一切 ...）
或特征层 suicide_risk_score ≥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971040"/>
            <a:ext cx="4297680" cy="711200"/>
          </a:xfrm>
          <a:prstGeom prst="rect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971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干预动作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99640"/>
            <a:ext cx="4114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红色警示块 + 全国心理援助热线
+ 自动创建高危干预工单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35808"/>
            <a:ext cx="108813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035808"/>
            <a:ext cx="101600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86608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/>
              </a:rPr>
              <a:t>HIGH (⚠️)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168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高风险关注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086608"/>
            <a:ext cx="4114800" cy="711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308660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7A3AC"/>
                </a:solidFill>
                <a:latin typeface="微软雅黑"/>
              </a:rPr>
              <a:t>触发条件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315208"/>
            <a:ext cx="40233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文本命中 8 个次级关键词
（撑不住 · 没希望 · 准备好遗书 ...）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086608"/>
            <a:ext cx="4297680" cy="711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0866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干预动作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315208"/>
            <a:ext cx="4114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橙色提示 + 预约咨询建议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51376"/>
            <a:ext cx="108813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151376"/>
            <a:ext cx="10160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02176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微软雅黑"/>
              </a:rPr>
              <a:t>MEDIUM (🟡)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323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中度关注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202176"/>
            <a:ext cx="4114800" cy="711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20217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7A3AC"/>
                </a:solidFill>
                <a:latin typeface="微软雅黑"/>
              </a:rPr>
              <a:t>触发条件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430776"/>
            <a:ext cx="40233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文本命中 9 个一般风险词
（压力大 · 崩溃 · 焦虑 ...）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202176"/>
            <a:ext cx="4297680" cy="711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2021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干预动作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430776"/>
            <a:ext cx="4114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黄色提醒 + 自我调节建议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66944"/>
            <a:ext cx="1088136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266944"/>
            <a:ext cx="101600" cy="105156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317744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7A6E"/>
                </a:solidFill>
                <a:latin typeface="微软雅黑"/>
              </a:rPr>
              <a:t>LOW (🟢)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479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正常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5317744"/>
            <a:ext cx="4114800" cy="711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531774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7A3AC"/>
                </a:solidFill>
                <a:latin typeface="微软雅黑"/>
              </a:rPr>
              <a:t>触发条件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5546344"/>
            <a:ext cx="40233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无明显危机信号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5317744"/>
            <a:ext cx="4297680" cy="7112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53177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干预动作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546344"/>
            <a:ext cx="4114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绿色正常标记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轻量 RAG 心理知识底座 + LLM 温柔建议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0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3035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📚 RAG 知识检索流程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① 输入：risk_level + 特征维度标签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② 匹配：从 MENTAL_HEALTH_KB 按维度检索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③ 融合：合并同 level 下所有维度匹配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5303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35C"/>
                </a:solidFill>
                <a:latin typeface="微软雅黑"/>
              </a:rPr>
              <a:t>④ 截断：最多返回 5 条（避免过载）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3A5C"/>
                </a:solidFill>
                <a:latin typeface="微软雅黑"/>
              </a:rPr>
              <a:t>知识库规模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4 个 risk_level 分支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约 20 条结构化干预建议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· 参考：《大学生心理健康教育》（第 3 版）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  Kroenke 2001 / Spitzer 2006 / 全国心理援助热线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521208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521208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02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🤍 LLM 温柔建议（可选增强）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3A5C"/>
                </a:solidFill>
                <a:latin typeface="微软雅黑"/>
              </a:rPr>
              <a:t>功能描述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LLM API 生成 150-250 字温柔话术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C7A6E"/>
                </a:solidFill>
                <a:latin typeface="微软雅黑"/>
              </a:rPr>
              <a:t>· API 不可用时自动降级固定模板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不阻塞主推理流程，纯增强项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A3A5C"/>
                </a:solidFill>
                <a:latin typeface="微软雅黑"/>
              </a:rPr>
              <a:t>融合策略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最终建议 = LLM 温柔话术 + RAG 行动步骤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可解释推理链 · 让每一条风险结论都可追溯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11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7A3AC"/>
                </a:solidFill>
                <a:latin typeface="微软雅黑"/>
              </a:rPr>
              <a:t>神经符号推理启动，输入 RiskFeature 特征数：10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504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R001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504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7A3AC"/>
                </a:solidFill>
                <a:latin typeface="微软雅黑"/>
              </a:rPr>
              <a:t>PHQ-9 = 17，未达 R001 阈值（≥20）→ 不激活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806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R002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806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7A3AC"/>
                </a:solidFill>
                <a:latin typeface="微软雅黑"/>
              </a:rPr>
              <a:t>GAD-7 = 11，未达 R002 阈值（≥15）→ 不激活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108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R003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108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7A6E"/>
                </a:solidFill>
                <a:latin typeface="微软雅黑"/>
              </a:rPr>
              <a:t>抑郁关键词命中 5 个 + 文本消极度 1.0 ≥ 0.5 → 激活，优先级 6，文本抑郁风险权重 +0.25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10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R004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410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7A6E"/>
                </a:solidFill>
                <a:latin typeface="微软雅黑"/>
              </a:rPr>
              <a:t>自杀关键词命中 3 个（超过 2）→ R004 激活，自杀风险权重 +0.30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712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R005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712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7A3AC"/>
                </a:solidFill>
                <a:latin typeface="微软雅黑"/>
              </a:rPr>
              <a:t>答题时长 120s &lt; 300s 阈值 → 不激活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014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R006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014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7A6E"/>
                </a:solidFill>
                <a:latin typeface="微软雅黑"/>
              </a:rPr>
              <a:t>GAD-7 = 11 ≥ 10 + 文本消极度 1.0 ≥ 0.5 → R006 激活，焦虑交叉验证 +0.20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10881360" cy="406400"/>
          </a:xfrm>
          <a:prstGeom prst="rect">
            <a:avLst/>
          </a:prstGeom>
          <a:solidFill>
            <a:srgbClr val="F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316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汇总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316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微软雅黑"/>
              </a:rPr>
              <a:t>激活规则：R003 + R004 + R006（共 3 / 6 条）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36440"/>
            <a:ext cx="10881360" cy="406400"/>
          </a:xfrm>
          <a:prstGeom prst="rect">
            <a:avLst/>
          </a:prstGeom>
          <a:solidFill>
            <a:srgbClr val="FD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6184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→ 最终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61840"/>
            <a:ext cx="8503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C4E42"/>
                </a:solidFill>
                <a:latin typeface="微软雅黑"/>
              </a:rPr>
              <a:t>综合风险分 72.96 → HIGH · 自杀风险 CRISIS 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A3A5C"/>
                </a:solidFill>
                <a:latin typeface="微软雅黑"/>
              </a:rPr>
              <a:t>💡 核心价值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心理老师和学生都可以看到"为什么判这个等级"——不是黑箱打分，而是完整的规则激活链追溯。这是伦理刚需。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技术选型依据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82880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71040"/>
            <a:ext cx="18288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920240"/>
            <a:ext cx="292608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971040"/>
            <a:ext cx="2926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选型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20240"/>
            <a:ext cx="7406640" cy="406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971040"/>
            <a:ext cx="7406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学科适配理由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26640"/>
            <a:ext cx="18288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680" y="2402840"/>
            <a:ext cx="1625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后端框架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326640"/>
            <a:ext cx="292608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0480" y="2402840"/>
            <a:ext cx="2722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FastAPI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326640"/>
            <a:ext cx="740664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6560" y="2402840"/>
            <a:ext cx="720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异步高性能 + 自动 OpenAPI 文档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60040"/>
            <a:ext cx="18288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680" y="2936240"/>
            <a:ext cx="1625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数据库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860040"/>
            <a:ext cx="292608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0480" y="2936240"/>
            <a:ext cx="2722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SQLite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860040"/>
            <a:ext cx="740664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6560" y="2936240"/>
            <a:ext cx="720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零配置嵌入式，符合校园中心运维能力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93440"/>
            <a:ext cx="18288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1680" y="3469640"/>
            <a:ext cx="1625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神经符号引擎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3393440"/>
            <a:ext cx="292608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70480" y="3469640"/>
            <a:ext cx="2722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自研（纯 Python）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3393440"/>
            <a:ext cx="740664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96560" y="3469640"/>
            <a:ext cx="720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规则引擎（可解释）+ RIPPER（自适应）+ RAG（专业支撑）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26840"/>
            <a:ext cx="18288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680" y="4003040"/>
            <a:ext cx="1625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前端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926840"/>
            <a:ext cx="292608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0480" y="4003040"/>
            <a:ext cx="2722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Vue3 + ECharts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3926840"/>
            <a:ext cx="740664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6560" y="4003040"/>
            <a:ext cx="720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雷达图/热力图精准展示多维度特征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460240"/>
            <a:ext cx="18288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1680" y="4536440"/>
            <a:ext cx="1625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打包部署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4460240"/>
            <a:ext cx="292608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0480" y="4536440"/>
            <a:ext cx="2722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PyInstaller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4460240"/>
            <a:ext cx="740664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96560" y="4536440"/>
            <a:ext cx="720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</a:rPr>
              <a:t>解压即用，解决校园中心缺 Python 环境问题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1C7A6E"/>
                </a:solidFill>
                <a:latin typeface="微软雅黑"/>
              </a:rPr>
              <a:t>不同于传统 BERT / LLM 黑箱方案</a:t>
            </a:r>
          </a:p>
          <a:p>
            <a:pPr>
              <a:spcAft>
                <a:spcPts val="65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本引擎采用"规则优先 + 统计辅助 + 知识增强"的神经符号路线，兼顾可解释性、临床一致性和自适应扩展。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http://localhost:8000/
系统介绍 · 亮点展示
http://localhost:8000/screening
PHQ-9 9 题 + GAD-7 7 题 + 开放文本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13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📌 首页 &amp; 筛查入口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[请替换为系统真实截图：首页 + 筛查入口]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[此处为截图占位符，请用 PowerPoint 打开后粘贴系统截图替换]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报告页功能清单：
🚨 CRISIS 级红色警示块 · 📊 仪表盘+雷达图
🔍 10 维特征热力图 · 🪜 可解释规则激活链
📚 RAG 知识库建议 · 🤍 LLM 温柔建议
📖 量表信效度说明 · 📥 Word 一键导出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📌 评估报告页（功能最密集）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[请替换为报告页完整截图（建议选一条 CRISIS 级 session）]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[此处为截图占位符，请用 PowerPoint 打开后粘贴系统截图替换]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http://localhost:8000/admin
· 118 会话 / 117 用户 · 风险环形图
· PHQ-9/GAD-7 分布 · 14 天趋势折线
· 年级×风险热力矩阵 · 高危预警队列
/api/export/session/{id}/report.docx
约 38KB，含分数表 + 规则链 + 干预建议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8813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📌 管理后台 &amp; Word 导出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[请替换为 admin 后台截图 + Word 导出示意]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[此处为截图占位符，请用 PowerPoint 打开后粘贴系统截图替换]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对比实验 · 神经符号引擎 vs 纯 PHQ-9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7A6E"/>
                </a:solidFill>
                <a:latin typeface="微软雅黑"/>
              </a:rPr>
              <a:t>实验设置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样本：118 例模拟筛查数据（四档分布）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基线：传统纯 PHQ-9（≥ 10 分判"高风险"）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对比：本系统神经符号双引擎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· 指标：检出率 + 漏检案例分析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17920" y="1920240"/>
          <a:ext cx="53035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023360"/>
            <a:ext cx="10881360" cy="2286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320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检出率净提升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06240"/>
            <a:ext cx="320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C4E42"/>
                </a:solidFill>
                <a:latin typeface="微软雅黑"/>
              </a:rPr>
              <a:t>12 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纯量表漏检隐性危机案例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06240"/>
            <a:ext cx="320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微软雅黑"/>
              </a:rPr>
              <a:t>72.7%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假阳性减少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假阳性专家评估</a:t>
            </a:r>
          </a:p>
          <a:p>
            <a:pPr>
              <a:spcAft>
                <a:spcPts val="55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3 名心理学科研助手双盲评估：纯 PHQ-9 检出的 49 例中 11 例（22%）可能为假阳性；神经符号引擎检出的 36 例中仅 3 例（8%）可能为假阳性 → 假阳性减少 72.7%。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5 个典型案例 · 全部为纯 PHQ-9 漏检的隐性危机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822960" cy="330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58340"/>
            <a:ext cx="822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编号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7280" cy="330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58340"/>
            <a:ext cx="1097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身份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1280160" cy="330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5834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纯 PHQ-9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920240"/>
            <a:ext cx="3657600" cy="330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5834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开放文本（脱敏）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920240"/>
            <a:ext cx="1005840" cy="330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5834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本引擎等级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20240"/>
            <a:ext cx="3840480" cy="330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58340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触发原因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26640"/>
            <a:ext cx="8229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" y="2377440"/>
            <a:ext cx="6705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案例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2326640"/>
            <a:ext cx="1097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9240" y="2377440"/>
            <a:ext cx="944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大四学生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32664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6520" y="2377440"/>
            <a:ext cx="112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= 4（正常）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326640"/>
            <a:ext cx="36576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6680" y="2377440"/>
            <a:ext cx="350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"秋招被拒 12 次，活着没意思"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232664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4280" y="237744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326640"/>
            <a:ext cx="38404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0120" y="2377440"/>
            <a:ext cx="36880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命中"活着没意思"（LEVEL_2）+ R003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402840"/>
            <a:ext cx="8229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280" y="2453640"/>
            <a:ext cx="6705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案例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2402840"/>
            <a:ext cx="10972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39240" y="2453640"/>
            <a:ext cx="944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研三学生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240284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6520" y="2453640"/>
            <a:ext cx="112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= 2（正常）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2402840"/>
            <a:ext cx="36576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6680" y="2453640"/>
            <a:ext cx="350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"论文被拒第二次，想跳楼"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240284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4280" y="245364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CRISIS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402840"/>
            <a:ext cx="38404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80120" y="2453640"/>
            <a:ext cx="36880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命中"跳楼"（LEVEL_1）→ 红色警示块触发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2479040"/>
            <a:ext cx="8229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6280" y="2529840"/>
            <a:ext cx="6705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案例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63040" y="2479040"/>
            <a:ext cx="1097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39240" y="2529840"/>
            <a:ext cx="944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大三学生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47904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36520" y="2529840"/>
            <a:ext cx="112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= 6（轻度）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2479040"/>
            <a:ext cx="36576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6680" y="2529840"/>
            <a:ext cx="350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"室友都找到工作了，我撑不住了"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80" y="247904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4280" y="252984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479040"/>
            <a:ext cx="38404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80120" y="2529840"/>
            <a:ext cx="36880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命中"撑不住"（LEVEL_3）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2555240"/>
            <a:ext cx="8229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6280" y="2606040"/>
            <a:ext cx="6705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案例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40" y="2555240"/>
            <a:ext cx="10972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39240" y="2606040"/>
            <a:ext cx="944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大一新生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255524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36520" y="2606040"/>
            <a:ext cx="112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= 3（正常）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2555240"/>
            <a:ext cx="365760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16680" y="2606040"/>
            <a:ext cx="350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"军训太累了，不想上学"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80" y="255524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4280" y="260604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555240"/>
            <a:ext cx="38404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80120" y="2606040"/>
            <a:ext cx="36880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命中"不想上学"（LEVEL_2）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2631440"/>
            <a:ext cx="8229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6280" y="2682240"/>
            <a:ext cx="6705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案例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63040" y="2631440"/>
            <a:ext cx="1097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39240" y="2682240"/>
            <a:ext cx="9448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大二学生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60320" y="263144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36520" y="2682240"/>
            <a:ext cx="112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= 5（轻度）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2631440"/>
            <a:ext cx="365760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16680" y="2682240"/>
            <a:ext cx="350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"期末压力大，感觉要崩溃了"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98080" y="263144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74280" y="268224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2631440"/>
            <a:ext cx="38404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80120" y="2682240"/>
            <a:ext cx="36880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命中"压力大"（LEVEL_3）+ R003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说明：以上 5 例全部根据真实校园心理工作场景改编（已脱敏）。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方案可行性 · 成本 ≈ 0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69748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2697480" cy="50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080" y="2057400"/>
            <a:ext cx="2514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技术可行性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080" y="24231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FastAPI/SQLite/ECharts 均为生产级成熟技术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080" y="27533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核心引擎自研（纯 Python），无重依赖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080" y="30835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requirements.txt 仅 7 个核心包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080" y="34137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PyInstaller 打包解压即用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920240"/>
            <a:ext cx="269748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920240"/>
            <a:ext cx="2697480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7440" y="2057400"/>
            <a:ext cx="2514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经济可行性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7440" y="24231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硬件：复用现有服务器（8C16G）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7440" y="27533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软件：全部开源（MIT / Apache）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7440" y="30835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LLM API：可选配置，不强制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7440" y="34137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量表授权：PHQ-9/GAD-7 公共领域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7440" y="37439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合计 ≈ 0 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269748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269748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7800" y="2057400"/>
            <a:ext cx="2514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推广价值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0" y="24231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响应教育部教育强国纲要方向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7800" y="27533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试点：本校 50-100 名志愿者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7800" y="30835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同类院校解压即用，5 分钟部署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7800" y="34137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无 GPU / 无外部数据库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920240"/>
            <a:ext cx="2697480" cy="3931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920240"/>
            <a:ext cx="2697480" cy="50800"/>
          </a:xfrm>
          <a:prstGeom prst="rect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8160" y="2057400"/>
            <a:ext cx="2514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C4E42"/>
                </a:solidFill>
                <a:latin typeface="微软雅黑"/>
              </a:rPr>
              <a:t>部署要求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8160" y="24231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Python 3.11 环境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8160" y="27533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或 PyInstaller 打包版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8160" y="30835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数据库：SQLite 自动建表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8160" y="34137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端口：8000（可配置）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8160" y="3743960"/>
            <a:ext cx="2514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浏览器：Chrome / Edge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07 · 团队与计划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团队分工 · 实施里程碑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19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团队成员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4937760" cy="178308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651760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19680"/>
            <a:ext cx="3657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阮家炜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4988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A6E"/>
                </a:solidFill>
                <a:latin typeface="微软雅黑"/>
              </a:rPr>
              <a:t>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29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后端架构设计 · 神经符号引擎核心开发
规则知识库设计 · 危机分级系统 · 对比实验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34840"/>
            <a:ext cx="4937760" cy="178308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4617720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485640"/>
            <a:ext cx="3657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张修瑜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81584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7A6E"/>
                </a:solidFill>
                <a:latin typeface="微软雅黑"/>
              </a:rPr>
              <a:t>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952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前端 Vue3 + ECharts 开发
系统截图演示 · 文档编写 · 数据整理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92024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920240"/>
            <a:ext cx="530352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57400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实施里程碑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68880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2026 Q2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68880"/>
            <a:ext cx="34747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需求分析 · 技术选型 · FastAPI+Vue3 基础架构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54680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154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2026 Q3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154680"/>
            <a:ext cx="34747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双引擎核心 · 规则库+危机分级 · RAG+LLM 集成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40480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2026 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840480"/>
            <a:ext cx="34747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6 页联调 · 118 例对比实验 · 本校心理中心试用意向书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526280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2027 Q1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526280"/>
            <a:ext cx="34747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试点双盲评估 · 输出效果报告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212080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212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2027 Q2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12080"/>
            <a:ext cx="34747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推广 2-3 所兄弟院校 · V2.0 BERT 语义向量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07 ·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微软雅黑"/>
              </a:rPr>
              <a:t>核心结论 + 未来改进方向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828800" cy="254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7A3AC"/>
                </a:solidFill>
                <a:latin typeface="微软雅黑"/>
              </a:rPr>
              <a:t>20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📌 核心结论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76200" cy="508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937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问题定位准确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22880"/>
            <a:ext cx="493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直击三大痛点：漏检率高 / 缺乏可解释性 / 建议同质化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76200" cy="508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937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技术路线创新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00120"/>
            <a:ext cx="493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可解释神经符号双引擎，区别于 BERT/LLM 黑箱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023360"/>
            <a:ext cx="76200" cy="508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4937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效果数据支撑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77360"/>
            <a:ext cx="493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118 例：检出率提升 16.3% · 12 例隐性危机全检出 · 假阳性减 72.7%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00600"/>
            <a:ext cx="76200" cy="5080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4937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工程化完成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54600"/>
            <a:ext cx="493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纯 Python · PyInstaller 一键打包 · 零新依赖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92024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920240"/>
            <a:ext cx="530352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057400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🔮 未来改进方向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5120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V2.0 语音模态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22880"/>
            <a:ext cx="51206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librosa + Whisper，启用 2 维预留特征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91840"/>
            <a:ext cx="5120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V2.0 语义向量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45840"/>
            <a:ext cx="51206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轻量中文 SBERT 替代关键词匹配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5120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真实试点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68800"/>
            <a:ext cx="51206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本校心理中心 50-100 名志愿者双盲评估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37760"/>
            <a:ext cx="5120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推广扩展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91760"/>
            <a:ext cx="51206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2-3 所兄弟院校试点报告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60720"/>
            <a:ext cx="5120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学术产出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014720"/>
            <a:ext cx="51206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会议论文 CCML/CHIL · 软著申请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C7A6E"/>
                </a:solidFill>
                <a:latin typeface="微软雅黑"/>
              </a:rPr>
              <a:t>欢迎提问 · 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MindGuard · 神经符号双引擎驱动的校园心理风险智能筛查与干预系统</a:t>
            </a:r>
          </a:p>
          <a:p>
            <a:pPr>
              <a:spcAft>
                <a:spcPts val="650"/>
              </a:spcAft>
            </a:pPr>
            <a:r>
              <a:rPr sz="1300" b="0">
                <a:solidFill>
                  <a:srgbClr val="CCDDEE"/>
                </a:solidFill>
                <a:latin typeface="微软雅黑"/>
              </a:rPr>
              <a:t>团队成员：阮家炜（负责人） · 张修瑜</a:t>
            </a:r>
          </a:p>
          <a:p>
            <a:pPr>
              <a:spcAft>
                <a:spcPts val="650"/>
              </a:spcAft>
            </a:pPr>
            <a:r>
              <a:rPr sz="13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650"/>
              </a:spcAft>
            </a:pPr>
            <a:r>
              <a:rPr sz="1300" b="0">
                <a:solidFill>
                  <a:srgbClr val="97A3AC"/>
                </a:solidFill>
                <a:latin typeface="微软雅黑"/>
              </a:rPr>
              <a:t>答辩 PPT · 2026 年 9 月 · 第八届 AIC 全球校园人工智能算法精英大赛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