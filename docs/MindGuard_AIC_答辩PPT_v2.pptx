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2024 全国高校心理问题检出率（%）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2024 全国高校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抑郁阳性率</c:v>
                </c:pt>
                <c:pt idx="1">
                  <c:v>焦虑阳性率</c:v>
                </c:pt>
                <c:pt idx="2">
                  <c:v>总检出率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16.3</c:v>
                </c:pt>
                <c:pt idx="1">
                  <c:v>22.7</c:v>
                </c:pt>
                <c:pt idx="2">
                  <c:v>23.0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title>
      <c:tx>
        <c:rich>
          <a:bodyPr/>
          <a:lstStyle/>
          <a:p>
            <a:r>
              <a:t>RiskFeature 特征向量雷达图（归一化 0-5）</a:t>
            </a:r>
          </a:p>
        </c:rich>
      </c:tx>
      <c:layout/>
      <c:overlay val="0"/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示例 session #106（HIGH / CRISIS）</c:v>
                </c:pt>
              </c:strCache>
            </c:strRef>
          </c:tx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PHQ-9
(0-27)</c:v>
                </c:pt>
                <c:pt idx="1">
                  <c:v>GAD-7
(0-21)</c:v>
                </c:pt>
                <c:pt idx="2">
                  <c:v>文本消极
(0-1)</c:v>
                </c:pt>
                <c:pt idx="3">
                  <c:v>焦虑关键词
(个数)</c:v>
                </c:pt>
                <c:pt idx="4">
                  <c:v>抑郁关键词
(个数)</c:v>
                </c:pt>
                <c:pt idx="5">
                  <c:v>自杀风险
(个数)</c:v>
                </c:pt>
                <c:pt idx="6">
                  <c:v>答题时长
(秒)</c:v>
                </c:pt>
                <c:pt idx="7">
                  <c:v>语义相似度
(0-1)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3.1481481481481484</c:v>
                </c:pt>
                <c:pt idx="1">
                  <c:v>2.619047619047619</c:v>
                </c:pt>
                <c:pt idx="2">
                  <c:v>5.0</c:v>
                </c:pt>
                <c:pt idx="3">
                  <c:v>2.5</c:v>
                </c:pt>
                <c:pt idx="4">
                  <c:v>2.5</c:v>
                </c:pt>
                <c:pt idx="5">
                  <c:v>1.5</c:v>
                </c:pt>
                <c:pt idx="6">
                  <c:v>3.0</c:v>
                </c:pt>
                <c:pt idx="7">
                  <c:v>3.5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中等风险 session</c:v>
                </c:pt>
              </c:strCache>
            </c:strRef>
          </c:tx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PHQ-9
(0-27)</c:v>
                </c:pt>
                <c:pt idx="1">
                  <c:v>GAD-7
(0-21)</c:v>
                </c:pt>
                <c:pt idx="2">
                  <c:v>文本消极
(0-1)</c:v>
                </c:pt>
                <c:pt idx="3">
                  <c:v>焦虑关键词
(个数)</c:v>
                </c:pt>
                <c:pt idx="4">
                  <c:v>抑郁关键词
(个数)</c:v>
                </c:pt>
                <c:pt idx="5">
                  <c:v>自杀风险
(个数)</c:v>
                </c:pt>
                <c:pt idx="6">
                  <c:v>答题时长
(秒)</c:v>
                </c:pt>
                <c:pt idx="7">
                  <c:v>语义相似度
(0-1)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1.4814814814814814</c:v>
                </c:pt>
                <c:pt idx="1">
                  <c:v>1.4285714285714284</c:v>
                </c:pt>
                <c:pt idx="2">
                  <c:v>2.0</c:v>
                </c:pt>
                <c:pt idx="3">
                  <c:v>1.0</c:v>
                </c:pt>
                <c:pt idx="4">
                  <c:v>1.5</c:v>
                </c:pt>
                <c:pt idx="5">
                  <c:v>0.5</c:v>
                </c:pt>
                <c:pt idx="6">
                  <c:v>2.5</c:v>
                </c:pt>
                <c:pt idx="7">
                  <c:v>2.5</c:v>
                </c:pt>
              </c:numCache>
            </c:numRef>
          </c:val>
          <c:smooth val="0"/>
        </c:ser>
        <c:axId val="2073612648"/>
        <c:axId val="-2112772216"/>
      </c:radarChart>
      <c:catAx>
        <c:axId val="2073612648"/>
        <c:scaling>
          <c:orientation val="minMax"/>
        </c:scaling>
        <c:delete val="0"/>
        <c:axPos val="b"/>
        <c:majorGridlines/>
        <c:numFmt formatCode="m/d/yy" sourceLinked="1"/>
        <c:majorTickMark val="out"/>
        <c:minorTickMark val="none"/>
        <c:tickLblPos val="nextTo"/>
        <c:crossAx val="-2112772216"/>
        <c:crosses val="autoZero"/>
        <c:auto val="1"/>
        <c:lblAlgn val="ctr"/>
        <c:lblOffset val="100"/>
        <c:noMultiLvlLbl val="0"/>
      </c:catAx>
      <c:valAx>
        <c:axId val="-2112772216"/>
        <c:scaling>
          <c:orientation val="minMax"/>
        </c:scaling>
        <c:delete val="0"/>
        <c:axPos val="l"/>
        <c:majorGridlines/>
        <c:numFmt formatCode="General" sourceLinked="1"/>
        <c:majorTickMark val="cross"/>
        <c:minorTickMark val="none"/>
        <c:tickLblPos val="nextTo"/>
        <c:crossAx val="2073612648"/>
        <c:crosses val="autoZero"/>
        <c:crossBetween val="between"/>
      </c:valAx>
    </c:plotArea>
    <c:legend>
      <c:legendPos val="b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知识库规模：4 分支 · 约 20 条建议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建议条数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LOW 分支</c:v>
                </c:pt>
                <c:pt idx="1">
                  <c:v>MEDIUM 分支</c:v>
                </c:pt>
                <c:pt idx="2">
                  <c:v>HIGH 分支</c:v>
                </c:pt>
                <c:pt idx="3">
                  <c:v>URGENT 分支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</c:v>
                </c:pt>
                <c:pt idx="1">
                  <c:v>5</c:v>
                </c:pt>
                <c:pt idx="2">
                  <c:v>5</c:v>
                </c:pt>
                <c:pt idx="3">
                  <c:v>4</c:v>
                </c:pt>
              </c:numCache>
            </c:numRef>
          </c:val>
        </c:ser>
      </c:pieChart>
    </c:plotArea>
    <c:legend>
      <c:legendPos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检出率对比（118 例样本）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纯 PHQ-9（单量表）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检出案例</c:v>
                </c:pt>
                <c:pt idx="1">
                  <c:v>漏检案例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49</c:v>
                </c:pt>
                <c:pt idx="1">
                  <c:v>69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神经符号双引擎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检出案例</c:v>
                </c:pt>
                <c:pt idx="1">
                  <c:v>漏检案例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36</c:v>
                </c:pt>
                <c:pt idx="1">
                  <c:v>82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纯 PHQ-9 假阳性分析（3 名科研助手双盲评估）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纯 PHQ-9 检出 49 例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真阳性</c:v>
                </c:pt>
                <c:pt idx="1">
                  <c:v>假阳性（PHQ-9 高分但无危机）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</c:v>
                </c:pt>
                <c:pt idx="1">
                  <c:v>11</c:v>
                </c:pt>
              </c:numCache>
            </c:numRef>
          </c:val>
        </c:ser>
      </c:pieChart>
    </c:plotArea>
    <c:legend>
      <c:legendPos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不同风险等级下两种方法的检出分布对比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纯 PHQ-9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LOW</c:v>
                </c:pt>
                <c:pt idx="1">
                  <c:v>MEDIUM</c:v>
                </c:pt>
                <c:pt idx="2">
                  <c:v>HIGH</c:v>
                </c:pt>
                <c:pt idx="3">
                  <c:v>CRISIS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41</c:v>
                </c:pt>
                <c:pt idx="1">
                  <c:v>26</c:v>
                </c:pt>
                <c:pt idx="2">
                  <c:v>26</c:v>
                </c:pt>
                <c:pt idx="3">
                  <c:v>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神经符号双引擎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LOW</c:v>
                </c:pt>
                <c:pt idx="1">
                  <c:v>MEDIUM</c:v>
                </c:pt>
                <c:pt idx="2">
                  <c:v>HIGH</c:v>
                </c:pt>
                <c:pt idx="3">
                  <c:v>CRISIS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32</c:v>
                </c:pt>
                <c:pt idx="1">
                  <c:v>35</c:v>
                </c:pt>
                <c:pt idx="2">
                  <c:v>29</c:v>
                </c:pt>
                <c:pt idx="3">
                  <c:v>22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0" y="0"/>
            <a:ext cx="63500" cy="68580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0"/>
            <a:ext cx="1673352" cy="762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4572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A6E"/>
                </a:solidFill>
                <a:latin typeface="微软雅黑"/>
              </a:rPr>
              <a:t>AIC 第八届 · 算法创新赛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4572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DDEE"/>
                </a:solidFill>
                <a:latin typeface="微软雅黑"/>
              </a:rPr>
              <a:t>赛题 5 · AI + 学科交叉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4572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微软雅黑"/>
              </a:rPr>
              <a:t>神经符号双引擎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14600"/>
            <a:ext cx="4572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微软雅黑"/>
              </a:rPr>
              <a:t>驱动的校园心理风险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17520"/>
            <a:ext cx="4572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微软雅黑"/>
              </a:rPr>
              <a:t>智能筛查与干预系统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840480"/>
            <a:ext cx="4206240" cy="1828800"/>
          </a:xfrm>
          <a:prstGeom prst="rect">
            <a:avLst/>
          </a:prstGeom>
          <a:solidFill>
            <a:srgbClr val="14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128016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7A6E"/>
                </a:solidFill>
                <a:latin typeface="微软雅黑"/>
              </a:rPr>
              <a:t>16.3%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06240"/>
            <a:ext cx="128016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7A3AC"/>
                </a:solidFill>
                <a:latin typeface="微软雅黑"/>
              </a:rPr>
              <a:t>检出率净提升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931920"/>
            <a:ext cx="128016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7A6E"/>
                </a:solidFill>
                <a:latin typeface="微软雅黑"/>
              </a:rPr>
              <a:t>12 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4206240"/>
            <a:ext cx="128016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7A3AC"/>
                </a:solidFill>
                <a:latin typeface="微软雅黑"/>
              </a:rPr>
              <a:t>隐性危机全检出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931920"/>
            <a:ext cx="128016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C7A6E"/>
                </a:solidFill>
                <a:latin typeface="微软雅黑"/>
              </a:rPr>
              <a:t>72.7%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4206240"/>
            <a:ext cx="128016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7A3AC"/>
                </a:solidFill>
                <a:latin typeface="微软雅黑"/>
              </a:rPr>
              <a:t>假阳性减少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1645920"/>
            <a:ext cx="6217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1A3A5C"/>
                </a:solidFill>
                <a:latin typeface="微软雅黑"/>
              </a:rPr>
              <a:t>MindGuard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1C7A6E"/>
                </a:solidFill>
                <a:latin typeface="微软雅黑"/>
              </a:rPr>
              <a:t>可解释 AI × 精神医学 × 校园心理中心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1F2937"/>
                </a:solidFill>
                <a:latin typeface="微软雅黑"/>
              </a:rPr>
              <a:t/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47535C"/>
                </a:solidFill>
                <a:latin typeface="微软雅黑"/>
              </a:rPr>
              <a:t>PHQ-9 / GAD-7 临床量表 + 开放文本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47535C"/>
                </a:solidFill>
                <a:latin typeface="微软雅黑"/>
              </a:rPr>
              <a:t>规则知识库 6 条 + RIPPER 归纳 + RAG 底座</a:t>
            </a:r>
          </a:p>
          <a:p>
            <a:pPr>
              <a:spcAft>
                <a:spcPts val="300"/>
              </a:spcAft>
            </a:pPr>
            <a:r>
              <a:rPr sz="1400" b="0">
                <a:solidFill>
                  <a:srgbClr val="47535C"/>
                </a:solidFill>
                <a:latin typeface="微软雅黑"/>
              </a:rPr>
              <a:t>4 级危机分级 · 可解释推理链 · LLM 温柔建议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4206240"/>
            <a:ext cx="6217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0">
                <a:solidFill>
                  <a:srgbClr val="1F2937"/>
                </a:solidFill>
                <a:latin typeface="微软雅黑"/>
              </a:rPr>
              <a:t>团队：阮家炜（负责人） · 张修瑜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1C7A6E"/>
                </a:solidFill>
                <a:latin typeface="微软雅黑"/>
              </a:rPr>
              <a:t>纯 Python · 零 GPU · PyInstaller 一键打包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D97706"/>
                </a:solidFill>
                <a:latin typeface="微软雅黑"/>
              </a:rPr>
              <a:t>响应教育部《教育强国建设纲要》AI+心理监测方向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F2937"/>
                </a:solidFill>
                <a:latin typeface="微软雅黑"/>
              </a:rPr>
              <a:t/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97A3AC"/>
                </a:solidFill>
                <a:latin typeface="微软雅黑"/>
              </a:rPr>
              <a:t>答辩 PPT · 2026 年 9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7A6E"/>
                </a:solidFill>
                <a:latin typeface="微软雅黑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微软雅黑"/>
              </a:rPr>
              <a:t>汇报结构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463040" cy="381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7A3AC"/>
                </a:solidFill>
                <a:latin typeface="微软雅黑"/>
              </a:rPr>
              <a:t>MindGuard · 神经符号双引擎心理风险筛查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3774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7A3AC"/>
                </a:solidFill>
                <a:latin typeface="微软雅黑"/>
              </a:rPr>
              <a:t>2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558800" cy="558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5588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62760"/>
            <a:ext cx="3657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A5C"/>
                </a:solidFill>
                <a:latin typeface="微软雅黑"/>
              </a:rPr>
              <a:t>项目背景与痛点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788160"/>
            <a:ext cx="685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为什么做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359152"/>
            <a:ext cx="558800" cy="558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359152"/>
            <a:ext cx="5588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384552"/>
            <a:ext cx="3657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A5C"/>
                </a:solidFill>
                <a:latin typeface="微软雅黑"/>
              </a:rPr>
              <a:t>需求分析与学科定位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409952"/>
            <a:ext cx="685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赛题 5 交叉切入点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980944"/>
            <a:ext cx="558800" cy="558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980944"/>
            <a:ext cx="5588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006344"/>
            <a:ext cx="3657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A5C"/>
                </a:solidFill>
                <a:latin typeface="微软雅黑"/>
              </a:rPr>
              <a:t>系统整体架构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031744"/>
            <a:ext cx="685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四层设计 + 数据流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602736"/>
            <a:ext cx="558800" cy="558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602736"/>
            <a:ext cx="5588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628136"/>
            <a:ext cx="3657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A5C"/>
                </a:solidFill>
                <a:latin typeface="微软雅黑"/>
              </a:rPr>
              <a:t>核心技术详解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653536"/>
            <a:ext cx="685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双引擎 · 规则库 · 危机分级 · RAG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224528"/>
            <a:ext cx="558800" cy="558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224528"/>
            <a:ext cx="5588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249928"/>
            <a:ext cx="3657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A5C"/>
                </a:solidFill>
                <a:latin typeface="微软雅黑"/>
              </a:rPr>
              <a:t>系统演示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4275328"/>
            <a:ext cx="685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真实界面截图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846320"/>
            <a:ext cx="558800" cy="558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4846320"/>
            <a:ext cx="5588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871720"/>
            <a:ext cx="3657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A5C"/>
                </a:solidFill>
                <a:latin typeface="微软雅黑"/>
              </a:rPr>
              <a:t>效果验证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4897120"/>
            <a:ext cx="685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对比实验 · 典型案例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468112"/>
            <a:ext cx="558800" cy="558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5468112"/>
            <a:ext cx="558800" cy="55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5493512"/>
            <a:ext cx="3657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A5C"/>
                </a:solidFill>
                <a:latin typeface="微软雅黑"/>
              </a:rPr>
              <a:t>总结与展望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0" y="5518912"/>
            <a:ext cx="68580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结论 + V2.0 方向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7A6E"/>
                </a:solidFill>
                <a:latin typeface="微软雅黑"/>
              </a:rPr>
              <a:t>01 · 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微软雅黑"/>
              </a:rPr>
              <a:t>国家政策与校园心理现状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463040" cy="381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7A3AC"/>
                </a:solidFill>
                <a:latin typeface="微软雅黑"/>
              </a:rPr>
              <a:t>MindGuard · 神经符号双引擎心理风险筛查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3774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7A3AC"/>
                </a:solidFill>
                <a:latin typeface="微软雅黑"/>
              </a:rPr>
              <a:t>3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 b="1">
                <a:solidFill>
                  <a:srgbClr val="1A3A5C"/>
                </a:solidFill>
                <a:latin typeface="微软雅黑"/>
              </a:rPr>
              <a:t>📋 教育部《教育强国建设纲要（2024-2035）》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47535C"/>
                </a:solidFill>
                <a:latin typeface="微软雅黑"/>
              </a:rPr>
              <a:t>   "建立全国学生心理健康监测预警系统"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1F2937"/>
                </a:solidFill>
                <a:latin typeface="微软雅黑"/>
              </a:rPr>
              <a:t/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1A3A5C"/>
                </a:solidFill>
                <a:latin typeface="微软雅黑"/>
              </a:rPr>
              <a:t>🏫 某高校心理中心真实数据</a:t>
            </a:r>
          </a:p>
          <a:p>
            <a:pPr>
              <a:spcAft>
                <a:spcPts val="300"/>
              </a:spcAft>
            </a:pPr>
            <a:r>
              <a:rPr sz="1300" b="0">
                <a:solidFill>
                  <a:srgbClr val="47535C"/>
                </a:solidFill>
                <a:latin typeface="微软雅黑"/>
              </a:rPr>
              <a:t>   · 年筛查 6000+，3 人专职团队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AC4E42"/>
                </a:solidFill>
                <a:latin typeface="微软雅黑"/>
              </a:rPr>
              <a:t>   · 干预工单积压 12 天</a:t>
            </a:r>
          </a:p>
          <a:p>
            <a:pPr>
              <a:spcAft>
                <a:spcPts val="300"/>
              </a:spcAft>
            </a:pPr>
            <a:r>
              <a:rPr sz="1300" b="1">
                <a:solidFill>
                  <a:srgbClr val="AC4E42"/>
                </a:solidFill>
                <a:latin typeface="微软雅黑"/>
              </a:rPr>
              <a:t>   · 漏检率 32%（98 → 145 高风险）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217920" y="1737360"/>
          <a:ext cx="5394960" cy="2011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548640" y="3931920"/>
            <a:ext cx="11064240" cy="86868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931920"/>
            <a:ext cx="76200" cy="86868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982720"/>
            <a:ext cx="10972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7A6E"/>
                </a:solidFill>
                <a:latin typeface="微软雅黑"/>
              </a:rPr>
              <a:t>痛点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11320"/>
            <a:ext cx="10972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A5C"/>
                </a:solidFill>
                <a:latin typeface="微软雅黑"/>
              </a:rPr>
              <a:t>单一量表漏检率高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16120"/>
            <a:ext cx="105156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纯 PHQ-9 单维度筛查，70% 后续案例在 PHQ-9 上 &lt; 10 分，传统方法完全无法识别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892040"/>
            <a:ext cx="11064240" cy="86868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892040"/>
            <a:ext cx="76200" cy="8686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942840"/>
            <a:ext cx="10972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97706"/>
                </a:solidFill>
                <a:latin typeface="微软雅黑"/>
              </a:rPr>
              <a:t>痛点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171440"/>
            <a:ext cx="10972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A5C"/>
                </a:solidFill>
                <a:latin typeface="微软雅黑"/>
              </a:rPr>
              <a:t>缺乏可解释性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476240"/>
            <a:ext cx="105156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老师只看到一个分数，不知道"为什么判高危"，系统成为"黑箱"——心理学科伦理风险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852160"/>
            <a:ext cx="11064240" cy="86868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5852160"/>
            <a:ext cx="76200" cy="868680"/>
          </a:xfrm>
          <a:prstGeom prst="rect">
            <a:avLst/>
          </a:prstGeom>
          <a:solidFill>
            <a:srgbClr val="AC4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902960"/>
            <a:ext cx="10972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C4E42"/>
                </a:solidFill>
                <a:latin typeface="微软雅黑"/>
              </a:rPr>
              <a:t>痛点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131560"/>
            <a:ext cx="10972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A5C"/>
                </a:solidFill>
                <a:latin typeface="微软雅黑"/>
              </a:rPr>
              <a:t>干预建议同质化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436360"/>
            <a:ext cx="1051560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过去 100 份干预记录中，"建议寻求专业帮助"占比 68%，缺乏针对性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7A6E"/>
                </a:solidFill>
                <a:latin typeface="微软雅黑"/>
              </a:rPr>
              <a:t>02 · 需求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微软雅黑"/>
              </a:rPr>
              <a:t>AI+精神医学的学科交叉定位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463040" cy="381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7A3AC"/>
                </a:solidFill>
                <a:latin typeface="微软雅黑"/>
              </a:rPr>
              <a:t>MindGuard · 神经符号双引擎心理风险筛查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3774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7A3AC"/>
                </a:solidFill>
                <a:latin typeface="微软雅黑"/>
              </a:rPr>
              <a:t>4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3657600" cy="43891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3657600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5640" y="1874519"/>
            <a:ext cx="347472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C7A6E"/>
                </a:solidFill>
                <a:latin typeface="微软雅黑"/>
              </a:rPr>
              <a:t>精神医学 / 临床心理学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1040" y="2240280"/>
            <a:ext cx="50800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8040" y="2214880"/>
            <a:ext cx="32918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临床量表标准：PHQ-9、GAD-7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1040" y="2646680"/>
            <a:ext cx="50800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040" y="2621280"/>
            <a:ext cx="32918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DSM-5 诊断阈值与分级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1040" y="3053080"/>
            <a:ext cx="50800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040" y="3027680"/>
            <a:ext cx="32918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干预伦理：可解释性要求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1040" y="3459480"/>
            <a:ext cx="50800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8040" y="3434080"/>
            <a:ext cx="32918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心理危机干预分级体系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34840" y="1737360"/>
            <a:ext cx="3657600" cy="43891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34840" y="1737360"/>
            <a:ext cx="3657600" cy="50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61840" y="1874519"/>
            <a:ext cx="347472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D97706"/>
                </a:solidFill>
                <a:latin typeface="微软雅黑"/>
              </a:rPr>
              <a:t>AI + 学科交叉切入点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87240" y="2240280"/>
            <a:ext cx="50800" cy="50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14240" y="2214880"/>
            <a:ext cx="32918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多模态 RiskFeature 特征向量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87240" y="2646680"/>
            <a:ext cx="50800" cy="50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14240" y="2621280"/>
            <a:ext cx="32918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神经符号双引擎推理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87240" y="3053080"/>
            <a:ext cx="50800" cy="50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14240" y="3027680"/>
            <a:ext cx="32918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4 级危机分级拦截机制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87240" y="3459480"/>
            <a:ext cx="50800" cy="50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14240" y="3434080"/>
            <a:ext cx="32918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可解释推理链 + RAG 知识底座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21040" y="1737360"/>
            <a:ext cx="3657600" cy="43891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321040" y="1737360"/>
            <a:ext cx="3657600" cy="508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48040" y="1874519"/>
            <a:ext cx="347472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A5C"/>
                </a:solidFill>
                <a:latin typeface="微软雅黑"/>
              </a:rPr>
              <a:t>人工智能（工科）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73440" y="2240280"/>
            <a:ext cx="50800" cy="508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00440" y="2214880"/>
            <a:ext cx="32918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规则引擎（可解释）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73440" y="2646680"/>
            <a:ext cx="50800" cy="508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00440" y="2621280"/>
            <a:ext cx="32918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RIPPER 规则归纳（自适应）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73440" y="3053080"/>
            <a:ext cx="50800" cy="508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00440" y="3027680"/>
            <a:ext cx="32918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FastAPI + Vue3 工程化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73440" y="3459480"/>
            <a:ext cx="50800" cy="508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00440" y="3434080"/>
            <a:ext cx="32918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PyInstaller 一键打包部署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0" y="6309360"/>
            <a:ext cx="484632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AC4E42"/>
                </a:solidFill>
                <a:latin typeface="微软雅黑"/>
              </a:rPr>
              <a:t>痛点：筛查漏检 / 黑箱 / 同质化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0" y="6487160"/>
            <a:ext cx="484632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97A3AC"/>
                </a:solidFill>
                <a:latin typeface="微软雅黑"/>
              </a:rPr>
              <a:t>↓ 学科交叉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57600" y="6664960"/>
            <a:ext cx="484632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D97706"/>
                </a:solidFill>
                <a:latin typeface="微软雅黑"/>
              </a:rPr>
              <a:t>切入点：规则+RIPPER+RAG+4级危机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0" y="6842760"/>
            <a:ext cx="484632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97A3AC"/>
                </a:solidFill>
                <a:latin typeface="微软雅黑"/>
              </a:rPr>
              <a:t>↓ AI 赋能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0" y="7020560"/>
            <a:ext cx="484632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C7A6E"/>
                </a:solidFill>
                <a:latin typeface="微软雅黑"/>
              </a:rPr>
              <a:t>方案：神经符号双引擎系统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7A6E"/>
                </a:solidFill>
                <a:latin typeface="微软雅黑"/>
              </a:rPr>
              <a:t>02 · 需求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微软雅黑"/>
              </a:rPr>
              <a:t>三项核心创新点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463040" cy="381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7A3AC"/>
                </a:solidFill>
                <a:latin typeface="微软雅黑"/>
              </a:rPr>
              <a:t>MindGuard · 神经符号双引擎心理风险筛查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3774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7A3AC"/>
                </a:solidFill>
                <a:latin typeface="微软雅黑"/>
              </a:rPr>
              <a:t>5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11064240" cy="146304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103120"/>
            <a:ext cx="731520" cy="731520"/>
          </a:xfrm>
          <a:prstGeom prst="ellipse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1031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838960"/>
            <a:ext cx="91440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3A5C"/>
                </a:solidFill>
                <a:latin typeface="微软雅黑"/>
              </a:rPr>
              <a:t>可解释神经符号双引擎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194560"/>
            <a:ext cx="9784080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规则知识库（6 条 DSM-5 阈值规则 + RIPPER 规则归纳器）+ 10 维多模态 RiskFeature
每条风险结论附带完整规则激活链，解决 AI 心理健康领域"黑箱"伦理问题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337560"/>
            <a:ext cx="11064240" cy="146304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85800" y="3703320"/>
            <a:ext cx="731520" cy="731520"/>
          </a:xfrm>
          <a:prstGeom prst="ellipse">
            <a:avLst/>
          </a:prstGeom>
          <a:solidFill>
            <a:srgbClr val="1C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033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439160"/>
            <a:ext cx="91440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3A5C"/>
                </a:solidFill>
                <a:latin typeface="微软雅黑"/>
              </a:rPr>
              <a:t>4 级危机分级拦截机制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794760"/>
            <a:ext cx="9784080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30+ 个关键词按 CRISIS/HIGH/MEDIUM/LOW 分级 + 特征层兜底双重机制
118 例样本对比：PHQ-9/GAD-7 正常时仍能检出隐性信号，12 例全部被纯量表漏掉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937760"/>
            <a:ext cx="11064240" cy="146304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303520"/>
            <a:ext cx="731520" cy="73152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30352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039360"/>
            <a:ext cx="91440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A3A5C"/>
                </a:solidFill>
                <a:latin typeface="微软雅黑"/>
              </a:rPr>
              <a:t>轻量 RAG 心理知识底座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394960"/>
            <a:ext cx="9784080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risk_level × 特征维度结构化检索，建议不再是"去寻求帮助"
而是"五感接地法：说出此刻看到的 5 件事"这样的具体行动步骤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7A6E"/>
                </a:solidFill>
                <a:latin typeface="微软雅黑"/>
              </a:rPr>
              <a:t>03 · 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微软雅黑"/>
              </a:rPr>
              <a:t>四层设计 · 展示 → 应用 → 算法 → 数据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463040" cy="381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7A3AC"/>
                </a:solidFill>
                <a:latin typeface="微软雅黑"/>
              </a:rPr>
              <a:t>MindGuard · 神经符号双引擎心理风险筛查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3774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7A3AC"/>
                </a:solidFill>
                <a:latin typeface="微软雅黑"/>
              </a:rPr>
              <a:t>6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11064240" cy="9601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76200" cy="9601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788160"/>
            <a:ext cx="1097280" cy="3556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788160"/>
            <a:ext cx="109728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① 展示层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74519" y="1788160"/>
            <a:ext cx="2011680" cy="355600"/>
          </a:xfrm>
          <a:prstGeom prst="rect">
            <a:avLst/>
          </a:prstGeom>
          <a:solidFill>
            <a:srgbClr val="1A3A5C"/>
          </a:solidFill>
          <a:ln>
            <a:solidFill>
              <a:srgbClr val="1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74519" y="1788160"/>
            <a:ext cx="201168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Vue3 · ECharts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1788160"/>
            <a:ext cx="7498079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筛查入口 / 评估报告（雷达+热力图+规则链）/ 管理后台 / Word 导出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26517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C7A6E"/>
                </a:solidFill>
                <a:latin typeface="微软雅黑"/>
              </a:rPr>
              <a:t>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834640"/>
            <a:ext cx="11064240" cy="9601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834640"/>
            <a:ext cx="76200" cy="96012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2885440"/>
            <a:ext cx="1097280" cy="3556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885440"/>
            <a:ext cx="109728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② 应用层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74519" y="2885440"/>
            <a:ext cx="2011680" cy="355600"/>
          </a:xfrm>
          <a:prstGeom prst="rect">
            <a:avLst/>
          </a:prstGeom>
          <a:solidFill>
            <a:srgbClr val="1C7A6E"/>
          </a:solidFill>
          <a:ln>
            <a:solidFill>
              <a:srgbClr val="1C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74519" y="2885440"/>
            <a:ext cx="201168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FastAPI · Pydantic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0" y="2885440"/>
            <a:ext cx="7498079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screening_api / admin_api / rules_api / export_api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37490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C7A6E"/>
                </a:solidFill>
                <a:latin typeface="微软雅黑"/>
              </a:rPr>
              <a:t>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931920"/>
            <a:ext cx="11064240" cy="9601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931920"/>
            <a:ext cx="76200" cy="9601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0" y="3982720"/>
            <a:ext cx="1097280" cy="3556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982720"/>
            <a:ext cx="109728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③ 算法层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74519" y="3982720"/>
            <a:ext cx="2011680" cy="355600"/>
          </a:xfrm>
          <a:prstGeom prst="rect">
            <a:avLst/>
          </a:prstGeom>
          <a:solidFill>
            <a:srgbClr val="D97706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74519" y="3982720"/>
            <a:ext cx="201168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神经符号双引擎（核心）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3360" y="3982720"/>
            <a:ext cx="7498079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RiskFeature 10 维
RuleBase 规则知识库
RIPPER 规则归纳
classify_crisis() 4 级危机
retrieve_knowledge() RAG
LLM 温柔建议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0" y="48463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C7A6E"/>
                </a:solidFill>
                <a:latin typeface="微软雅黑"/>
              </a:rPr>
              <a:t>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029200"/>
            <a:ext cx="11064240" cy="9601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5029200"/>
            <a:ext cx="76200" cy="960120"/>
          </a:xfrm>
          <a:prstGeom prst="rect">
            <a:avLst/>
          </a:prstGeom>
          <a:solidFill>
            <a:srgbClr val="AC4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5800" y="5080000"/>
            <a:ext cx="1097280" cy="355600"/>
          </a:xfrm>
          <a:prstGeom prst="rect">
            <a:avLst/>
          </a:prstGeom>
          <a:solidFill>
            <a:srgbClr val="AC4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5080000"/>
            <a:ext cx="109728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④ 数据层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74519" y="5080000"/>
            <a:ext cx="2011680" cy="355600"/>
          </a:xfrm>
          <a:prstGeom prst="rect">
            <a:avLst/>
          </a:prstGeom>
          <a:solidFill>
            <a:srgbClr val="AC4E42"/>
          </a:solidFill>
          <a:ln>
            <a:solidFill>
              <a:srgbClr val="AC4E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874519" y="5080000"/>
            <a:ext cx="201168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SQLite · 零配置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23360" y="5080000"/>
            <a:ext cx="7498079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User / ScreeningSession / Intervention / AdminUser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6373368"/>
            <a:ext cx="1097280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/>
              </a:rPr>
              <a:t>数据流：PHQ-9 + GAD-7 + 开放文本 → RiskFeature(10维) → 规则评估 → 危机分级 → RAG 检索 → LLM 建议 → 报告+导出+工单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7A6E"/>
                </a:solidFill>
                <a:latin typeface="微软雅黑"/>
              </a:rPr>
              <a:t>04 · 核心技术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微软雅黑"/>
              </a:rPr>
              <a:t>RiskFeature · 10 维多模态特征向量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463040" cy="381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7A3AC"/>
                </a:solidFill>
                <a:latin typeface="微软雅黑"/>
              </a:rPr>
              <a:t>MindGuard · 神经符号双引擎心理风险筛查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3774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7A3AC"/>
                </a:solidFill>
                <a:latin typeface="微软雅黑"/>
              </a:rPr>
              <a:t>7 / 20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737360"/>
          <a:ext cx="566928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0" y="1737360"/>
            <a:ext cx="5303520" cy="420624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828800"/>
            <a:ext cx="51206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微软雅黑"/>
              </a:rPr>
              <a:t>10 维特征明细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37960" y="2103120"/>
            <a:ext cx="5029200" cy="3556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141220"/>
            <a:ext cx="20116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7A3AC"/>
                </a:solidFill>
                <a:latin typeface="微软雅黑"/>
              </a:rPr>
              <a:t>phq9_score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2141220"/>
            <a:ext cx="21031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PHQ-9 抑郁总分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2141220"/>
            <a:ext cx="12801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C7A6E"/>
                </a:solidFill>
                <a:latin typeface="微软雅黑"/>
              </a:rPr>
              <a:t>已落地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2458720"/>
            <a:ext cx="5029200" cy="355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496820"/>
            <a:ext cx="20116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7A3AC"/>
                </a:solidFill>
                <a:latin typeface="微软雅黑"/>
              </a:rPr>
              <a:t>gad7_score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2496820"/>
            <a:ext cx="21031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GAD-7 焦虑总分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2496820"/>
            <a:ext cx="12801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C7A6E"/>
                </a:solidFill>
                <a:latin typeface="微软雅黑"/>
              </a:rPr>
              <a:t>已落地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37960" y="2814320"/>
            <a:ext cx="5029200" cy="3556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852420"/>
            <a:ext cx="20116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7A3AC"/>
                </a:solidFill>
                <a:latin typeface="微软雅黑"/>
              </a:rPr>
              <a:t>text_negativity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2852420"/>
            <a:ext cx="21031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开放文本消极度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2852420"/>
            <a:ext cx="12801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C7A6E"/>
                </a:solidFill>
                <a:latin typeface="微软雅黑"/>
              </a:rPr>
              <a:t>已落地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37960" y="3169920"/>
            <a:ext cx="5029200" cy="355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3208020"/>
            <a:ext cx="20116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7A3AC"/>
                </a:solidFill>
                <a:latin typeface="微软雅黑"/>
              </a:rPr>
              <a:t>text_anxiety_kw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3208020"/>
            <a:ext cx="21031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焦虑关键词命中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3208020"/>
            <a:ext cx="12801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C7A6E"/>
                </a:solidFill>
                <a:latin typeface="微软雅黑"/>
              </a:rPr>
              <a:t>已落地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37960" y="3525520"/>
            <a:ext cx="5029200" cy="3556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3563620"/>
            <a:ext cx="20116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7A3AC"/>
                </a:solidFill>
                <a:latin typeface="微软雅黑"/>
              </a:rPr>
              <a:t>text_dep_kw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3563620"/>
            <a:ext cx="21031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抑郁关键词命中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0" y="3563620"/>
            <a:ext cx="12801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C7A6E"/>
                </a:solidFill>
                <a:latin typeface="微软雅黑"/>
              </a:rPr>
              <a:t>已落地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37960" y="3881120"/>
            <a:ext cx="5029200" cy="355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3919220"/>
            <a:ext cx="20116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7A3AC"/>
                </a:solidFill>
                <a:latin typeface="微软雅黑"/>
              </a:rPr>
              <a:t>text_suicide_risk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3919220"/>
            <a:ext cx="21031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自杀风险关键词命中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3919220"/>
            <a:ext cx="12801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C7A6E"/>
                </a:solidFill>
                <a:latin typeface="微软雅黑"/>
              </a:rPr>
              <a:t>已落地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37960" y="4236720"/>
            <a:ext cx="5029200" cy="3556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4274820"/>
            <a:ext cx="20116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7A3AC"/>
                </a:solidFill>
                <a:latin typeface="微软雅黑"/>
              </a:rPr>
              <a:t>duration_sec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4274820"/>
            <a:ext cx="21031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答题时长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0" y="4274820"/>
            <a:ext cx="12801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C7A6E"/>
                </a:solidFill>
                <a:latin typeface="微软雅黑"/>
              </a:rPr>
              <a:t>已落地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37960" y="4592320"/>
            <a:ext cx="5029200" cy="355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0" y="4630420"/>
            <a:ext cx="20116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7A3AC"/>
                </a:solidFill>
                <a:latin typeface="微软雅黑"/>
              </a:rPr>
              <a:t>text_similarity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0" y="4630420"/>
            <a:ext cx="21031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文本语义相似度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41280" y="4630420"/>
            <a:ext cx="12801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1C7A6E"/>
                </a:solidFill>
                <a:latin typeface="微软雅黑"/>
              </a:rPr>
              <a:t>已落地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37960" y="4947920"/>
            <a:ext cx="5029200" cy="3556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0" y="4986020"/>
            <a:ext cx="20116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7A3AC"/>
                </a:solidFill>
                <a:latin typeface="微软雅黑"/>
              </a:rPr>
              <a:t>speech_pitch_std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95360" y="4986020"/>
            <a:ext cx="21031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语音音高波动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41280" y="4986020"/>
            <a:ext cx="12801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97A3AC"/>
                </a:solidFill>
                <a:latin typeface="微软雅黑"/>
              </a:rPr>
              <a:t>预留 V2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37960" y="5303520"/>
            <a:ext cx="5029200" cy="355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83680" y="5341620"/>
            <a:ext cx="20116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7A3AC"/>
                </a:solidFill>
                <a:latin typeface="微软雅黑"/>
              </a:rPr>
              <a:t>speech_rate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95360" y="5341620"/>
            <a:ext cx="21031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语速特征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41280" y="5341620"/>
            <a:ext cx="12801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97A3AC"/>
                </a:solidFill>
                <a:latin typeface="微软雅黑"/>
              </a:rPr>
              <a:t>预留 V2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035040"/>
            <a:ext cx="110642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7A3AC"/>
                </a:solidFill>
                <a:latin typeface="微软雅黑"/>
              </a:rPr>
              <a:t>前 8 维已在当前版本实现并投入推理；后 2 维（语音）为 V2.0 扩展预留，接入 librosa + Whisper 后启用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7A6E"/>
                </a:solidFill>
                <a:latin typeface="微软雅黑"/>
              </a:rPr>
              <a:t>04 · 核心技术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微软雅黑"/>
              </a:rPr>
              <a:t>规则知识库 · 6 条默认规则 + RIPPER 归纳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463040" cy="381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7A3AC"/>
                </a:solidFill>
                <a:latin typeface="微软雅黑"/>
              </a:rPr>
              <a:t>MindGuard · 神经符号双引擎心理风险筛查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3774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7A3AC"/>
                </a:solidFill>
                <a:latin typeface="微软雅黑"/>
              </a:rPr>
              <a:t>8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1005840" cy="3810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88160"/>
            <a:ext cx="100584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4389120" cy="3810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788160"/>
            <a:ext cx="43891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触发条件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37360"/>
            <a:ext cx="3474720" cy="3810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788160"/>
            <a:ext cx="34747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临床依据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737360"/>
            <a:ext cx="1005840" cy="3810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788160"/>
            <a:ext cx="100584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优先级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1737360"/>
            <a:ext cx="1188720" cy="3810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1788160"/>
            <a:ext cx="11887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状态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118360"/>
            <a:ext cx="100584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4840" y="2169160"/>
            <a:ext cx="85344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C4E42"/>
                </a:solidFill>
                <a:latin typeface="微软雅黑"/>
              </a:rPr>
              <a:t>R001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54480" y="2118360"/>
            <a:ext cx="438912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30680" y="2169160"/>
            <a:ext cx="42367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PHQ-9 ≥ 20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2118360"/>
            <a:ext cx="347472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19800" y="2169160"/>
            <a:ext cx="33223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重度抑郁临床阈值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18320" y="2118360"/>
            <a:ext cx="100584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94520" y="2169160"/>
            <a:ext cx="85344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10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424160" y="2118360"/>
            <a:ext cx="118872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00360" y="2169160"/>
            <a:ext cx="10363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A6E"/>
                </a:solidFill>
                <a:latin typeface="微软雅黑"/>
              </a:rPr>
              <a:t>默认启用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2575560"/>
            <a:ext cx="1005840" cy="4064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4840" y="2626360"/>
            <a:ext cx="85344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C4E42"/>
                </a:solidFill>
                <a:latin typeface="微软雅黑"/>
              </a:rPr>
              <a:t>R002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554480" y="2575560"/>
            <a:ext cx="4389120" cy="4064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30680" y="2626360"/>
            <a:ext cx="42367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GAD-7 ≥ 15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0" y="2575560"/>
            <a:ext cx="3474720" cy="4064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19800" y="2626360"/>
            <a:ext cx="33223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重度焦虑临床阈值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418320" y="2575560"/>
            <a:ext cx="1005840" cy="4064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94520" y="2626360"/>
            <a:ext cx="85344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10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424160" y="2575560"/>
            <a:ext cx="1188720" cy="4064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00360" y="2626360"/>
            <a:ext cx="10363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A6E"/>
                </a:solidFill>
                <a:latin typeface="微软雅黑"/>
              </a:rPr>
              <a:t>默认启用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3032760"/>
            <a:ext cx="100584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4840" y="3083560"/>
            <a:ext cx="85344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97706"/>
                </a:solidFill>
                <a:latin typeface="微软雅黑"/>
              </a:rPr>
              <a:t>R003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554480" y="3032760"/>
            <a:ext cx="438912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630680" y="3083560"/>
            <a:ext cx="42367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抑郁关键词 ≥ 3 + 文本消极 ≥ 0.5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0" y="3032760"/>
            <a:ext cx="347472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19800" y="3083560"/>
            <a:ext cx="33223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文本信号交叉验证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418320" y="3032760"/>
            <a:ext cx="100584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94520" y="3083560"/>
            <a:ext cx="85344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424160" y="3032760"/>
            <a:ext cx="118872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500360" y="3083560"/>
            <a:ext cx="10363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A6E"/>
                </a:solidFill>
                <a:latin typeface="微软雅黑"/>
              </a:rPr>
              <a:t>默认启用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3489960"/>
            <a:ext cx="1005840" cy="4064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4840" y="3540760"/>
            <a:ext cx="85344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C4E42"/>
                </a:solidFill>
                <a:latin typeface="微软雅黑"/>
              </a:rPr>
              <a:t>R004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554480" y="3489960"/>
            <a:ext cx="4389120" cy="4064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630680" y="3540760"/>
            <a:ext cx="42367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自杀风险关键词 ≥ 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0" y="3489960"/>
            <a:ext cx="3474720" cy="4064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019800" y="3540760"/>
            <a:ext cx="33223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自伤倾向信号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418320" y="3489960"/>
            <a:ext cx="1005840" cy="4064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94520" y="3540760"/>
            <a:ext cx="85344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424160" y="3489960"/>
            <a:ext cx="1188720" cy="4064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500360" y="3540760"/>
            <a:ext cx="10363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A6E"/>
                </a:solidFill>
                <a:latin typeface="微软雅黑"/>
              </a:rPr>
              <a:t>默认启用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8640" y="3947160"/>
            <a:ext cx="100584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4840" y="3997960"/>
            <a:ext cx="85344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9E0B"/>
                </a:solidFill>
                <a:latin typeface="微软雅黑"/>
              </a:rPr>
              <a:t>R005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554480" y="3947160"/>
            <a:ext cx="438912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630680" y="3997960"/>
            <a:ext cx="42367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答题时长 ≥ 300s + PHQ-9 ≥ 10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943600" y="3947160"/>
            <a:ext cx="347472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019800" y="3997960"/>
            <a:ext cx="33223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长时间思考 + 高分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418320" y="3947160"/>
            <a:ext cx="100584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494520" y="3997960"/>
            <a:ext cx="85344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5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424160" y="3947160"/>
            <a:ext cx="118872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500360" y="3997960"/>
            <a:ext cx="10363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A6E"/>
                </a:solidFill>
                <a:latin typeface="微软雅黑"/>
              </a:rPr>
              <a:t>默认启用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48640" y="4404360"/>
            <a:ext cx="1005840" cy="4064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24840" y="4455160"/>
            <a:ext cx="85344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97706"/>
                </a:solidFill>
                <a:latin typeface="微软雅黑"/>
              </a:rPr>
              <a:t>R006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554480" y="4404360"/>
            <a:ext cx="4389120" cy="4064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630680" y="4455160"/>
            <a:ext cx="42367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GAD-7 ≥ 10 + 文本消极 ≥ 0.5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943600" y="4404360"/>
            <a:ext cx="3474720" cy="4064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019800" y="4455160"/>
            <a:ext cx="33223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焦虑与文本交叉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418320" y="4404360"/>
            <a:ext cx="1005840" cy="4064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494520" y="4455160"/>
            <a:ext cx="85344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6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424160" y="4404360"/>
            <a:ext cx="1188720" cy="4064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500360" y="4455160"/>
            <a:ext cx="10363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A6E"/>
                </a:solidFill>
                <a:latin typeface="微软雅黑"/>
              </a:rPr>
              <a:t>默认启用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48640" y="4846320"/>
            <a:ext cx="11064240" cy="1280160"/>
          </a:xfrm>
          <a:prstGeom prst="rect">
            <a:avLst/>
          </a:prstGeom>
          <a:solidFill>
            <a:srgbClr val="F8FAFC"/>
          </a:solidFill>
          <a:ln>
            <a:solidFill>
              <a:srgbClr val="1C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31520" y="489204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1C7A6E"/>
                </a:solidFill>
                <a:latin typeface="微软雅黑"/>
              </a:rPr>
              <a:t>🔄 RIPPER 规则归纳器（wittgenstein 库）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35C"/>
                </a:solidFill>
                <a:latin typeface="微软雅黑"/>
              </a:rPr>
              <a:t>基于已标注筛查数据自动学习新规则 → 知识库自适应扩展 · 调用：POST /api/rules/learn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97A3AC"/>
                </a:solidFill>
                <a:latin typeface="微软雅黑"/>
              </a:rPr>
              <a:t>临床依据来源：Kroenke 2001 (PHQ-9) · Spitzer 2006 (GAD-7) · DSM-5 诊断阈值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7A6E"/>
                </a:solidFill>
                <a:latin typeface="微软雅黑"/>
              </a:rPr>
              <a:t>04 · 核心技术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微软雅黑"/>
              </a:rPr>
              <a:t>4 级危机分级拦截机制 · 双重触发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463040" cy="381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7A3AC"/>
                </a:solidFill>
                <a:latin typeface="微软雅黑"/>
              </a:rPr>
              <a:t>MindGuard · 神经符号双引擎心理风险筛查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3774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7A3AC"/>
                </a:solidFill>
                <a:latin typeface="微软雅黑"/>
              </a:rPr>
              <a:t>9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11064240" cy="2011680"/>
          </a:xfrm>
          <a:prstGeom prst="rect">
            <a:avLst/>
          </a:prstGeom>
          <a:solidFill>
            <a:srgbClr val="F1F5F9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74519"/>
            <a:ext cx="106984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A3A5C"/>
                </a:solidFill>
                <a:latin typeface="微软雅黑"/>
              </a:rPr>
              <a:t>双重触发机制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194560"/>
            <a:ext cx="2011680" cy="128016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194560"/>
            <a:ext cx="2011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输入
开放文本
+ 特征向量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560320"/>
            <a:ext cx="5486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C7A6E"/>
                </a:solidFill>
                <a:latin typeface="微软雅黑"/>
              </a:rPr>
              <a:t>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2011680"/>
            <a:ext cx="3200400" cy="16459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2057400"/>
            <a:ext cx="30175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A6E"/>
                </a:solidFill>
                <a:latin typeface="微软雅黑"/>
              </a:rPr>
              <a:t>路径 A：文本关键词匹配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286000"/>
            <a:ext cx="3017520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35C"/>
                </a:solidFill>
                <a:latin typeface="微软雅黑"/>
              </a:rPr>
              <a:t>30+ 关键词按紧急程度分级：
LEVEL_1_IMMEDIATE（12 词：自杀/跳楼/割腕/结束一切…）
LEVEL_2_PLANNING（8 词：撑不住/没希望…）
LEVEL_3_RISK（9 词：压力大/崩溃…）
LEVEL_4_DISTRESS（一般困扰）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0" y="2011680"/>
            <a:ext cx="2286000" cy="16459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2057400"/>
            <a:ext cx="21031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微软雅黑"/>
              </a:rPr>
              <a:t>路径 B：特征层兜底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286000"/>
            <a:ext cx="2103120" cy="10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35C"/>
                </a:solidFill>
                <a:latin typeface="微软雅黑"/>
              </a:rPr>
              <a:t>即使无关键词命中：
· suicide_risk ≥ 3 → CRISIS
· text_dep_kw ≥ 3 → HIGH
· PHQ-9 ≥ 20 → CRISIS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560320"/>
            <a:ext cx="5486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C7A6E"/>
                </a:solidFill>
                <a:latin typeface="微软雅黑"/>
              </a:rPr>
              <a:t>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66960" y="2011680"/>
            <a:ext cx="1463040" cy="16459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66960" y="2011680"/>
            <a:ext cx="1463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取最高
等级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023360"/>
            <a:ext cx="11064240" cy="105156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023360"/>
            <a:ext cx="101600" cy="1051560"/>
          </a:xfrm>
          <a:prstGeom prst="rect">
            <a:avLst/>
          </a:prstGeom>
          <a:solidFill>
            <a:srgbClr val="AC4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77240" y="4099560"/>
            <a:ext cx="457200" cy="457200"/>
          </a:xfrm>
          <a:prstGeom prst="ellipse">
            <a:avLst/>
          </a:prstGeom>
          <a:solidFill>
            <a:srgbClr val="AC4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099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CRISIS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4099560"/>
            <a:ext cx="1371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C4E42"/>
                </a:solidFill>
                <a:latin typeface="微软雅黑"/>
              </a:rPr>
              <a:t>立即干预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1760" y="4099560"/>
            <a:ext cx="877824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红色警示 + 全国心理援助热线
+ 自动创建高危干预工单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193792"/>
            <a:ext cx="11064240" cy="105156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193792"/>
            <a:ext cx="101600" cy="10515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77240" y="5269992"/>
            <a:ext cx="457200" cy="4572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2699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HIGH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5269992"/>
            <a:ext cx="1371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  <a:latin typeface="微软雅黑"/>
              </a:rPr>
              <a:t>高风险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51760" y="5269992"/>
            <a:ext cx="877824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橙色提示 + 预约咨询建议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6364224"/>
            <a:ext cx="11064240" cy="105156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6364224"/>
            <a:ext cx="101600" cy="10515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77240" y="644042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644042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MEDIUM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34440" y="6440424"/>
            <a:ext cx="1371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微软雅黑"/>
              </a:rPr>
              <a:t>中度关注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51760" y="6440424"/>
            <a:ext cx="877824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黄色提醒 + 自我调节建议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7534656"/>
            <a:ext cx="11064240" cy="105156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8640" y="7534656"/>
            <a:ext cx="101600" cy="105156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77240" y="7610856"/>
            <a:ext cx="457200" cy="457200"/>
          </a:xfrm>
          <a:prstGeom prst="ellipse">
            <a:avLst/>
          </a:prstGeom>
          <a:solidFill>
            <a:srgbClr val="1C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761085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LOW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34440" y="7610856"/>
            <a:ext cx="13716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7A6E"/>
                </a:solidFill>
                <a:latin typeface="微软雅黑"/>
              </a:rPr>
              <a:t>正常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51760" y="7610856"/>
            <a:ext cx="877824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绿色正常标记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7A6E"/>
                </a:solidFill>
                <a:latin typeface="微软雅黑"/>
              </a:rPr>
              <a:t>04 · 核心技术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微软雅黑"/>
              </a:rPr>
              <a:t>轻量 RAG 心理知识底座 + LLM 温柔建议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463040" cy="381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7A3AC"/>
                </a:solidFill>
                <a:latin typeface="微软雅黑"/>
              </a:rPr>
              <a:t>MindGuard · 神经符号双引擎心理风险筛查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3774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7A3AC"/>
                </a:solidFill>
                <a:latin typeface="微软雅黑"/>
              </a:rPr>
              <a:t>10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5486400" cy="43891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5486400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74519"/>
            <a:ext cx="51206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7A6E"/>
                </a:solidFill>
                <a:latin typeface="微软雅黑"/>
              </a:rPr>
              <a:t>📚 RAG 知识检索流程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240280"/>
            <a:ext cx="5120640" cy="50292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240280"/>
            <a:ext cx="1097280" cy="50292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24028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① 输入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291080"/>
            <a:ext cx="38404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risk_level + 特征维度标签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743200"/>
            <a:ext cx="54864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97A3AC"/>
                </a:solidFill>
                <a:latin typeface="微软雅黑"/>
              </a:rPr>
              <a:t>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898648"/>
            <a:ext cx="5120640" cy="50292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2898648"/>
            <a:ext cx="1097280" cy="50292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898648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② 匹配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2949448"/>
            <a:ext cx="38404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MENTAL_HEALTH_KB 按维度检索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401568"/>
            <a:ext cx="54864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97A3AC"/>
                </a:solidFill>
                <a:latin typeface="微软雅黑"/>
              </a:rPr>
              <a:t>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557016"/>
            <a:ext cx="5120640" cy="50292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557016"/>
            <a:ext cx="1097280" cy="50292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557016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③ 融合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3607816"/>
            <a:ext cx="38404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合并同 level 下所有维度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4059936"/>
            <a:ext cx="54864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97A3AC"/>
                </a:solidFill>
                <a:latin typeface="微软雅黑"/>
              </a:rPr>
              <a:t>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215384"/>
            <a:ext cx="5120640" cy="50292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4215384"/>
            <a:ext cx="1097280" cy="5029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215384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④ 截断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4266184"/>
            <a:ext cx="38404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35C"/>
                </a:solidFill>
                <a:latin typeface="微软雅黑"/>
              </a:rPr>
              <a:t>最多 5 条（避免过载）</a:t>
            </a:r>
          </a:p>
        </p:txBody>
      </p:sp>
      <p:graphicFrame>
        <p:nvGraphicFramePr>
          <p:cNvPr id="30" name="Chart 29"/>
          <p:cNvGraphicFramePr>
            <a:graphicFrameLocks noGrp="1"/>
          </p:cNvGraphicFramePr>
          <p:nvPr/>
        </p:nvGraphicFramePr>
        <p:xfrm>
          <a:off x="731520" y="4572000"/>
          <a:ext cx="5120640" cy="14630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1" name="Rectangle 30"/>
          <p:cNvSpPr/>
          <p:nvPr/>
        </p:nvSpPr>
        <p:spPr>
          <a:xfrm>
            <a:off x="6217920" y="1737360"/>
            <a:ext cx="5394960" cy="43891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1737360"/>
            <a:ext cx="5394960" cy="50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1874519"/>
            <a:ext cx="50292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  <a:latin typeface="微软雅黑"/>
              </a:rPr>
              <a:t>🤍 LLM 温柔建议（可选增强）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219456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1A3A5C"/>
                </a:solidFill>
                <a:latin typeface="微软雅黑"/>
              </a:rPr>
              <a:t>功能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47535C"/>
                </a:solidFill>
                <a:latin typeface="微软雅黑"/>
              </a:rPr>
              <a:t>· LLM API 生成 150-250 字温柔话术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C7A6E"/>
                </a:solidFill>
                <a:latin typeface="微软雅黑"/>
              </a:rPr>
              <a:t>· API 不可用时自动降级固定模板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47535C"/>
                </a:solidFill>
                <a:latin typeface="微软雅黑"/>
              </a:rPr>
              <a:t>· 不阻塞主推理流程，纯增强项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3611880"/>
            <a:ext cx="5029200" cy="2377440"/>
          </a:xfrm>
          <a:prstGeom prst="rect">
            <a:avLst/>
          </a:prstGeom>
          <a:solidFill>
            <a:srgbClr val="FDF2F1"/>
          </a:solidFill>
          <a:ln>
            <a:solidFill>
              <a:srgbClr val="AC4E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3657600"/>
            <a:ext cx="48463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C4E42"/>
                </a:solidFill>
                <a:latin typeface="微软雅黑"/>
              </a:rPr>
              <a:t>💡 融合策略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388620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1A3A5C"/>
                </a:solidFill>
                <a:latin typeface="微软雅黑"/>
              </a:rPr>
              <a:t>有 LLM：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47535C"/>
                </a:solidFill>
                <a:latin typeface="微软雅黑"/>
              </a:rPr>
              <a:t>  LLM 温柔话术 + RAG 行动步骤</a:t>
            </a:r>
          </a:p>
          <a:p>
            <a:pPr>
              <a:spcAft>
                <a:spcPts val="300"/>
              </a:spcAft>
            </a:pPr>
            <a:r>
              <a:rPr sz="1100" b="1">
                <a:solidFill>
                  <a:srgbClr val="1A3A5C"/>
                </a:solidFill>
                <a:latin typeface="微软雅黑"/>
              </a:rPr>
              <a:t>无 LLM：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47535C"/>
                </a:solidFill>
                <a:latin typeface="微软雅黑"/>
              </a:rPr>
              <a:t>  RAG 建议 + 模板温柔话术（降级）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7A6E"/>
                </a:solidFill>
                <a:latin typeface="微软雅黑"/>
              </a:rPr>
              <a:t>04 · 核心技术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微软雅黑"/>
              </a:rPr>
              <a:t>可解释推理链 · 让每一条风险结论都可追溯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463040" cy="381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7A3AC"/>
                </a:solidFill>
                <a:latin typeface="微软雅黑"/>
              </a:rPr>
              <a:t>MindGuard · 神经符号双引擎心理风险筛查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3774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7A3AC"/>
                </a:solidFill>
                <a:latin typeface="微软雅黑"/>
              </a:rPr>
              <a:t>11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1280160" cy="254000"/>
          </a:xfrm>
          <a:prstGeom prst="rect">
            <a:avLst/>
          </a:prstGeom>
          <a:solidFill>
            <a:srgbClr val="97A3AC"/>
          </a:solidFill>
          <a:ln>
            <a:solidFill>
              <a:srgbClr val="97A3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12801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开始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737360"/>
            <a:ext cx="95097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7A3AC"/>
                </a:solidFill>
                <a:latin typeface="微软雅黑"/>
              </a:rPr>
              <a:t>神经符号推理启动，输入 RiskFeature 特征数：10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067560"/>
            <a:ext cx="1280160" cy="254000"/>
          </a:xfrm>
          <a:prstGeom prst="rect">
            <a:avLst/>
          </a:prstGeom>
          <a:solidFill>
            <a:srgbClr val="97A3AC"/>
          </a:solidFill>
          <a:ln>
            <a:solidFill>
              <a:srgbClr val="97A3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067560"/>
            <a:ext cx="12801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R001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067560"/>
            <a:ext cx="95097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7A3AC"/>
                </a:solidFill>
                <a:latin typeface="微软雅黑"/>
              </a:rPr>
              <a:t>PHQ-9 = 17，未达阈值 ≥ 20 → 不激活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397760"/>
            <a:ext cx="1280160" cy="254000"/>
          </a:xfrm>
          <a:prstGeom prst="rect">
            <a:avLst/>
          </a:prstGeom>
          <a:solidFill>
            <a:srgbClr val="97A3AC"/>
          </a:solidFill>
          <a:ln>
            <a:solidFill>
              <a:srgbClr val="97A3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397760"/>
            <a:ext cx="12801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R002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2397760"/>
            <a:ext cx="95097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7A3AC"/>
                </a:solidFill>
                <a:latin typeface="微软雅黑"/>
              </a:rPr>
              <a:t>GAD-7 = 11，未达阈值 ≥ 15 → 不激活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727960"/>
            <a:ext cx="1280160" cy="254000"/>
          </a:xfrm>
          <a:prstGeom prst="rect">
            <a:avLst/>
          </a:prstGeom>
          <a:solidFill>
            <a:srgbClr val="1C7A6E"/>
          </a:solidFill>
          <a:ln>
            <a:solidFill>
              <a:srgbClr val="1C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727960"/>
            <a:ext cx="12801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R003 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2727960"/>
            <a:ext cx="95097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7A6E"/>
                </a:solidFill>
                <a:latin typeface="微软雅黑"/>
              </a:rPr>
              <a:t>抑郁关键词命中 5 个 + 文本消极度 1.0 ≥ 0.5 → 激活，优先级 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058160"/>
            <a:ext cx="1280160" cy="254000"/>
          </a:xfrm>
          <a:prstGeom prst="rect">
            <a:avLst/>
          </a:prstGeom>
          <a:solidFill>
            <a:srgbClr val="1C7A6E"/>
          </a:solidFill>
          <a:ln>
            <a:solidFill>
              <a:srgbClr val="1C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058160"/>
            <a:ext cx="12801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R004 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3058160"/>
            <a:ext cx="95097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7A6E"/>
                </a:solidFill>
                <a:latin typeface="微软雅黑"/>
              </a:rPr>
              <a:t>自杀关键词命中 3 个（≥ 2）→ 激活，自杀风险权重 +0.30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388360"/>
            <a:ext cx="1280160" cy="254000"/>
          </a:xfrm>
          <a:prstGeom prst="rect">
            <a:avLst/>
          </a:prstGeom>
          <a:solidFill>
            <a:srgbClr val="97A3AC"/>
          </a:solidFill>
          <a:ln>
            <a:solidFill>
              <a:srgbClr val="97A3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388360"/>
            <a:ext cx="12801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R005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3388360"/>
            <a:ext cx="95097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7A3AC"/>
                </a:solidFill>
                <a:latin typeface="微软雅黑"/>
              </a:rPr>
              <a:t>答题时长 120s &lt; 300s → 不激活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718560"/>
            <a:ext cx="1280160" cy="254000"/>
          </a:xfrm>
          <a:prstGeom prst="rect">
            <a:avLst/>
          </a:prstGeom>
          <a:solidFill>
            <a:srgbClr val="1C7A6E"/>
          </a:solidFill>
          <a:ln>
            <a:solidFill>
              <a:srgbClr val="1C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718560"/>
            <a:ext cx="12801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R006 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3718560"/>
            <a:ext cx="95097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7A6E"/>
                </a:solidFill>
                <a:latin typeface="微软雅黑"/>
              </a:rPr>
              <a:t>GAD-7 = 11 ≥ 10 + 文本消极度 1.0 ≥ 0.5 → 激活，焦虑交叉验证 +0.20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023360"/>
            <a:ext cx="11064240" cy="381000"/>
          </a:xfrm>
          <a:prstGeom prst="rect">
            <a:avLst/>
          </a:prstGeom>
          <a:solidFill>
            <a:srgbClr val="FD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4048760"/>
            <a:ext cx="1280160" cy="254000"/>
          </a:xfrm>
          <a:prstGeom prst="rect">
            <a:avLst/>
          </a:prstGeom>
          <a:solidFill>
            <a:srgbClr val="1A3A5C"/>
          </a:solidFill>
          <a:ln>
            <a:solidFill>
              <a:srgbClr val="1A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048760"/>
            <a:ext cx="12801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汇总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4048760"/>
            <a:ext cx="95097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3A5C"/>
                </a:solidFill>
                <a:latin typeface="微软雅黑"/>
              </a:rPr>
              <a:t>激活规则：R003 + R004 + R006（共 3 / 6 条）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353560"/>
            <a:ext cx="11064240" cy="381000"/>
          </a:xfrm>
          <a:prstGeom prst="rect">
            <a:avLst/>
          </a:prstGeom>
          <a:solidFill>
            <a:srgbClr val="FD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4378960"/>
            <a:ext cx="1280160" cy="254000"/>
          </a:xfrm>
          <a:prstGeom prst="rect">
            <a:avLst/>
          </a:prstGeom>
          <a:solidFill>
            <a:srgbClr val="AC4E42"/>
          </a:solidFill>
          <a:ln>
            <a:solidFill>
              <a:srgbClr val="AC4E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4378960"/>
            <a:ext cx="128016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微软雅黑"/>
              </a:rPr>
              <a:t>→ 最终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4378960"/>
            <a:ext cx="95097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C4E42"/>
                </a:solidFill>
                <a:latin typeface="微软雅黑"/>
              </a:rPr>
              <a:t>综合风险分 72.96 → HIGH · 自杀风险 CRISIS 级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6035040"/>
            <a:ext cx="11064240" cy="548640"/>
          </a:xfrm>
          <a:prstGeom prst="rect">
            <a:avLst/>
          </a:prstGeom>
          <a:solidFill>
            <a:srgbClr val="F8FAFC"/>
          </a:solidFill>
          <a:ln>
            <a:solidFill>
              <a:srgbClr val="1C7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6080760"/>
            <a:ext cx="106984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3A5C"/>
                </a:solidFill>
                <a:latin typeface="微软雅黑"/>
              </a:rPr>
              <a:t>💡 心理老师和学生都能看到"为什么判这个等级"——不是黑箱打分，而是完整的规则激活链追溯。这是伦理刚需。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7A6E"/>
                </a:solidFill>
                <a:latin typeface="微软雅黑"/>
              </a:rPr>
              <a:t>04 · 核心技术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微软雅黑"/>
              </a:rPr>
              <a:t>技术选型依据 · 对比传统 BERT/LLM 黑箱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463040" cy="381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7A3AC"/>
                </a:solidFill>
                <a:latin typeface="微软雅黑"/>
              </a:rPr>
              <a:t>MindGuard · 神经符号双引擎心理风险筛查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3774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7A3AC"/>
                </a:solidFill>
                <a:latin typeface="微软雅黑"/>
              </a:rPr>
              <a:t>12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1371600" cy="3810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88160"/>
            <a:ext cx="13716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模块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2286000" cy="3810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788160"/>
            <a:ext cx="228600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选型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37360"/>
            <a:ext cx="3931920" cy="3810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788160"/>
            <a:ext cx="393192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适配理由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737360"/>
            <a:ext cx="3474720" cy="3810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788160"/>
            <a:ext cx="3474720" cy="33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对比传统方案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118360"/>
            <a:ext cx="1371600" cy="482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4840" y="2194560"/>
            <a:ext cx="12192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后端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20240" y="2118360"/>
            <a:ext cx="2286000" cy="482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96440" y="2194560"/>
            <a:ext cx="2133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FastAPI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2118360"/>
            <a:ext cx="3931920" cy="482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82440" y="2194560"/>
            <a:ext cx="37795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异步 + OpenAPI 文档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2118360"/>
            <a:ext cx="3474720" cy="482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14360" y="2194560"/>
            <a:ext cx="33223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Flask / Django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651760"/>
            <a:ext cx="1371600" cy="4826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840" y="2727960"/>
            <a:ext cx="12192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数据库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20240" y="2651760"/>
            <a:ext cx="2286000" cy="4826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996440" y="2727960"/>
            <a:ext cx="2133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SQLite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2651760"/>
            <a:ext cx="3931920" cy="4826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82440" y="2727960"/>
            <a:ext cx="37795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零配置嵌入式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38160" y="2651760"/>
            <a:ext cx="3474720" cy="4826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14360" y="2727960"/>
            <a:ext cx="33223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MySQL / PostgreSQL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185160"/>
            <a:ext cx="1371600" cy="482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4840" y="3261360"/>
            <a:ext cx="12192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引擎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20240" y="3185160"/>
            <a:ext cx="2286000" cy="482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996440" y="3261360"/>
            <a:ext cx="2133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A6E"/>
                </a:solidFill>
                <a:latin typeface="微软雅黑"/>
              </a:rPr>
              <a:t>自研（纯 Python）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06240" y="3185160"/>
            <a:ext cx="3931920" cy="482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82440" y="3261360"/>
            <a:ext cx="37795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规则可解释 + RIPPER 自适应 + RAG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38160" y="3185160"/>
            <a:ext cx="3474720" cy="482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14360" y="3261360"/>
            <a:ext cx="33223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BERT 黑箱 / LLM 黑箱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3718560"/>
            <a:ext cx="1371600" cy="4826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4840" y="3794760"/>
            <a:ext cx="12192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前端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920240" y="3718560"/>
            <a:ext cx="2286000" cy="4826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996440" y="3794760"/>
            <a:ext cx="2133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Vue3 + ECharts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06240" y="3718560"/>
            <a:ext cx="3931920" cy="4826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82440" y="3794760"/>
            <a:ext cx="37795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雷达图/热力图展示多维度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38160" y="3718560"/>
            <a:ext cx="3474720" cy="4826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14360" y="3794760"/>
            <a:ext cx="33223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React / 纯 HTML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4251960"/>
            <a:ext cx="1371600" cy="482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4840" y="4328160"/>
            <a:ext cx="12192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打包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20240" y="4251960"/>
            <a:ext cx="2286000" cy="482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96440" y="4328160"/>
            <a:ext cx="2133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PyInstaller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06240" y="4251960"/>
            <a:ext cx="3931920" cy="482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82440" y="4328160"/>
            <a:ext cx="37795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解压即用，5 分钟部署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138160" y="4251960"/>
            <a:ext cx="3474720" cy="482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14360" y="4328160"/>
            <a:ext cx="332232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微软雅黑"/>
              </a:rPr>
              <a:t>Docker / 手动 pip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4846320"/>
            <a:ext cx="11064240" cy="1280160"/>
          </a:xfrm>
          <a:prstGeom prst="rect">
            <a:avLst/>
          </a:prstGeom>
          <a:solidFill>
            <a:srgbClr val="FDF2F1"/>
          </a:solidFill>
          <a:ln>
            <a:solidFill>
              <a:srgbClr val="AC4E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1520" y="489204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AC4E42"/>
                </a:solidFill>
                <a:latin typeface="微软雅黑"/>
              </a:rPr>
              <a:t>不同于传统 BERT / LLM 黑箱方案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47535C"/>
                </a:solidFill>
                <a:latin typeface="微软雅黑"/>
              </a:rPr>
              <a:t>本引擎采用"规则优先 + 统计辅助 + 知识增强"的神经符号路线：规则引擎保证可解释性和临床一致性，RIPPER 规则归纳器支持自适应扩展，RAG 知识底座提供心理学科专业支撑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7A6E"/>
                </a:solidFill>
                <a:latin typeface="微软雅黑"/>
              </a:rPr>
              <a:t>05 · 系统演示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微软雅黑"/>
              </a:rPr>
              <a:t>首页 &amp; 筛查入口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463040" cy="381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7A3AC"/>
                </a:solidFill>
                <a:latin typeface="微软雅黑"/>
              </a:rPr>
              <a:t>MindGuard · 神经符号双引擎心理风险筛查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3774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7A3AC"/>
                </a:solidFill>
                <a:latin typeface="微软雅黑"/>
              </a:rPr>
              <a:t>13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11064240" cy="43891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11064240" cy="438912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20240"/>
            <a:ext cx="1069848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3A5C"/>
                </a:solidFill>
                <a:latin typeface="微软雅黑"/>
              </a:rPr>
              <a:t>📌 首页 &amp; 筛查入口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94560"/>
            <a:ext cx="106984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7A6E"/>
                </a:solidFill>
                <a:latin typeface="微软雅黑"/>
              </a:rPr>
              <a:t>http://localhost:8000/
http://localhost:8000/screening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570480"/>
            <a:ext cx="50800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46888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首页：Hero + 亮点 + 架构图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824480"/>
            <a:ext cx="50800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72288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筛查入口：PHQ-9 9 题 + GAD-7 7 题 + 开放文本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943600"/>
            <a:ext cx="11064240" cy="411480"/>
          </a:xfrm>
          <a:prstGeom prst="rect">
            <a:avLst/>
          </a:prstGeom>
          <a:solidFill>
            <a:srgbClr val="AC4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94360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⬅ 此处为系统截图占位符，请先 start.bat 启动服务器 → 浏览器截图 → PPT 中删除占位 → 粘贴真实截图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7A6E"/>
                </a:solidFill>
                <a:latin typeface="微软雅黑"/>
              </a:rPr>
              <a:t>05 · 系统演示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微软雅黑"/>
              </a:rPr>
              <a:t>评估报告页（最密集页面）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463040" cy="381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7A3AC"/>
                </a:solidFill>
                <a:latin typeface="微软雅黑"/>
              </a:rPr>
              <a:t>MindGuard · 神经符号双引擎心理风险筛查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3774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7A3AC"/>
                </a:solidFill>
                <a:latin typeface="微软雅黑"/>
              </a:rPr>
              <a:t>14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11064240" cy="43891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11064240" cy="438912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20240"/>
            <a:ext cx="1069848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3A5C"/>
                </a:solidFill>
                <a:latin typeface="微软雅黑"/>
              </a:rPr>
              <a:t>📌 评估报告页（最密集页面）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94560"/>
            <a:ext cx="106984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7A6E"/>
                </a:solidFill>
                <a:latin typeface="微软雅黑"/>
              </a:rPr>
              <a:t>http://localhost:8000/report/{id}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570480"/>
            <a:ext cx="50800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46888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🚨 CRISIS 级红色警示块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824480"/>
            <a:ext cx="50800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72288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📊 仪表盘 + 雷达图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078480"/>
            <a:ext cx="50800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297688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🔍 10 维特征热力图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332480"/>
            <a:ext cx="50800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23088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🪜 可解释规则激活链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586480"/>
            <a:ext cx="50800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48488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📚 RAG 知识库建议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840480"/>
            <a:ext cx="50800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73888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🤍 LLM 温柔建议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094480"/>
            <a:ext cx="50800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399288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📖 量表信效度说明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348480"/>
            <a:ext cx="50800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24688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📥 Word 一键导出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943600"/>
            <a:ext cx="11064240" cy="411480"/>
          </a:xfrm>
          <a:prstGeom prst="rect">
            <a:avLst/>
          </a:prstGeom>
          <a:solidFill>
            <a:srgbClr val="AC4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94360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⬅ 此处为系统截图占位符，请先 start.bat 启动服务器 → 浏览器截图 → PPT 中删除占位 → 粘贴真实截图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7A6E"/>
                </a:solidFill>
                <a:latin typeface="微软雅黑"/>
              </a:rPr>
              <a:t>05 · 系统演示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微软雅黑"/>
              </a:rPr>
              <a:t>管理后台 &amp; Word 导出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463040" cy="381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7A3AC"/>
                </a:solidFill>
                <a:latin typeface="微软雅黑"/>
              </a:rPr>
              <a:t>MindGuard · 神经符号双引擎心理风险筛查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3774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7A3AC"/>
                </a:solidFill>
                <a:latin typeface="微软雅黑"/>
              </a:rPr>
              <a:t>15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11064240" cy="43891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11064240" cy="438912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20240"/>
            <a:ext cx="1069848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3A5C"/>
                </a:solidFill>
                <a:latin typeface="微软雅黑"/>
              </a:rPr>
              <a:t>📌 管理后台 &amp; Word 导出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94560"/>
            <a:ext cx="106984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7A6E"/>
                </a:solidFill>
                <a:latin typeface="微软雅黑"/>
              </a:rPr>
              <a:t>http://localhost:8000/admin
/api/export/session/{id}/report.docx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570480"/>
            <a:ext cx="50800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46888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管理后台：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824480"/>
            <a:ext cx="50800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72288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  118 会话 / 117 用户 · 风险环形图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078480"/>
            <a:ext cx="50800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297688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  PHQ-9/GAD-7 分布 · 14 天趋势折线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332480"/>
            <a:ext cx="50800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23088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  年级×风险热力矩阵 · 高危预警队列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662680"/>
            <a:ext cx="50800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561080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Word 报告导出：约 38KB 完整报告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943600"/>
            <a:ext cx="11064240" cy="411480"/>
          </a:xfrm>
          <a:prstGeom prst="rect">
            <a:avLst/>
          </a:prstGeom>
          <a:solidFill>
            <a:srgbClr val="AC4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94360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⬅ 此处为系统截图占位符，请先 start.bat 启动服务器 → 浏览器截图 → PPT 中删除占位 → 粘贴真实截图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7A6E"/>
                </a:solidFill>
                <a:latin typeface="微软雅黑"/>
              </a:rPr>
              <a:t>06 · 效果验证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微软雅黑"/>
              </a:rPr>
              <a:t>对比实验 · 神经符号引擎 vs 纯 PHQ-9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463040" cy="381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7A3AC"/>
                </a:solidFill>
                <a:latin typeface="微软雅黑"/>
              </a:rPr>
              <a:t>MindGuard · 神经符号双引擎心理风险筛查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3774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7A3AC"/>
                </a:solidFill>
                <a:latin typeface="微软雅黑"/>
              </a:rPr>
              <a:t>16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1A3A5C"/>
                </a:solidFill>
                <a:latin typeface="微软雅黑"/>
              </a:rPr>
              <a:t>实验设置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47535C"/>
                </a:solidFill>
                <a:latin typeface="微软雅黑"/>
              </a:rPr>
              <a:t>· 样本：118 例模拟筛查数据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47535C"/>
                </a:solidFill>
                <a:latin typeface="微软雅黑"/>
              </a:rPr>
              <a:t>· 基线：传统纯 PHQ-9（≥10 分判"高风险"）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47535C"/>
                </a:solidFill>
                <a:latin typeface="微软雅黑"/>
              </a:rPr>
              <a:t>· 对比：本系统神经符号双引擎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47535C"/>
                </a:solidFill>
                <a:latin typeface="微软雅黑"/>
              </a:rPr>
              <a:t>· 指标：检出率 + 漏检案例 + 假阳性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48640" y="3200400"/>
          <a:ext cx="539496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217920" y="3200400"/>
          <a:ext cx="5394960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Rectangle 10"/>
          <p:cNvSpPr/>
          <p:nvPr/>
        </p:nvSpPr>
        <p:spPr>
          <a:xfrm>
            <a:off x="548640" y="5212080"/>
            <a:ext cx="11064240" cy="100584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257800"/>
            <a:ext cx="34747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7A6E"/>
                </a:solidFill>
                <a:latin typeface="微软雅黑"/>
              </a:rPr>
              <a:t>16.3%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577840"/>
            <a:ext cx="347472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检出率净提升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5257800"/>
            <a:ext cx="34747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AC4E42"/>
                </a:solidFill>
                <a:latin typeface="微软雅黑"/>
              </a:rPr>
              <a:t>12 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5577840"/>
            <a:ext cx="347472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隐性危机全检出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5257800"/>
            <a:ext cx="3474720" cy="3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D97706"/>
                </a:solidFill>
                <a:latin typeface="微软雅黑"/>
              </a:rPr>
              <a:t>72.7%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5577840"/>
            <a:ext cx="347472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假阳性减少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7A6E"/>
                </a:solidFill>
                <a:latin typeface="微软雅黑"/>
              </a:rPr>
              <a:t>06 · 效果验证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微软雅黑"/>
              </a:rPr>
              <a:t>5 个典型案例 · 全部纯 PHQ-9 漏检的隐性危机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463040" cy="381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7A3AC"/>
                </a:solidFill>
                <a:latin typeface="微软雅黑"/>
              </a:rPr>
              <a:t>MindGuard · 神经符号双引擎心理风险筛查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3774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7A3AC"/>
                </a:solidFill>
                <a:latin typeface="微软雅黑"/>
              </a:rPr>
              <a:t>17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822960" cy="3556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75460"/>
            <a:ext cx="8229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编号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1097280" cy="3556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775460"/>
            <a:ext cx="10972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身份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737360"/>
            <a:ext cx="1280160" cy="3556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775460"/>
            <a:ext cx="12801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纯 PHQ-9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737360"/>
            <a:ext cx="3474720" cy="3556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775460"/>
            <a:ext cx="34747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开放文本（脱敏）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1737360"/>
            <a:ext cx="1005840" cy="3556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1775460"/>
            <a:ext cx="10058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本引擎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1737360"/>
            <a:ext cx="3383280" cy="3556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1775460"/>
            <a:ext cx="33832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触发原因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143760"/>
            <a:ext cx="82296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4840" y="2219960"/>
            <a:ext cx="6705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</a:rPr>
              <a:t>案例 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1600" y="2143760"/>
            <a:ext cx="109728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2219960"/>
            <a:ext cx="9448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</a:rPr>
              <a:t>大四学生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68880" y="2143760"/>
            <a:ext cx="128016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45080" y="2219960"/>
            <a:ext cx="11277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</a:rPr>
              <a:t>PHQ-9 = 4（正常）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49040" y="2143760"/>
            <a:ext cx="347472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25240" y="2219960"/>
            <a:ext cx="33223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</a:rPr>
              <a:t>"秋招被拒 12 次，活着没意思"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23760" y="2143760"/>
            <a:ext cx="100584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99960" y="2219960"/>
            <a:ext cx="8534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97706"/>
                </a:solidFill>
                <a:latin typeface="微软雅黑"/>
              </a:rPr>
              <a:t>HIGH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2143760"/>
            <a:ext cx="338328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05800" y="2219960"/>
            <a:ext cx="32308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</a:rPr>
              <a:t>命中"活着没意思"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2194560"/>
            <a:ext cx="822960" cy="4064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4840" y="2270760"/>
            <a:ext cx="6705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</a:rPr>
              <a:t>案例 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371600" y="2194560"/>
            <a:ext cx="1097280" cy="4064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447800" y="2270760"/>
            <a:ext cx="9448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</a:rPr>
              <a:t>研三学生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68880" y="2194560"/>
            <a:ext cx="1280160" cy="4064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45080" y="2270760"/>
            <a:ext cx="11277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</a:rPr>
              <a:t>PHQ-9 = 2（正常）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749040" y="2194560"/>
            <a:ext cx="3474720" cy="4064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25240" y="2270760"/>
            <a:ext cx="33223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</a:rPr>
              <a:t>"论文被拒第二次，想跳楼"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23760" y="2194560"/>
            <a:ext cx="1005840" cy="4064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99960" y="2270760"/>
            <a:ext cx="8534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C4E42"/>
                </a:solidFill>
                <a:latin typeface="微软雅黑"/>
              </a:rPr>
              <a:t>CRISIS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9600" y="2194560"/>
            <a:ext cx="3383280" cy="4064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05800" y="2270760"/>
            <a:ext cx="32308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</a:rPr>
              <a:t>命中"跳楼"→红色警示触发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2245360"/>
            <a:ext cx="82296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4840" y="2321560"/>
            <a:ext cx="6705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</a:rPr>
              <a:t>案例 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371600" y="2245360"/>
            <a:ext cx="109728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447800" y="2321560"/>
            <a:ext cx="9448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</a:rPr>
              <a:t>大三学生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468880" y="2245360"/>
            <a:ext cx="128016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45080" y="2321560"/>
            <a:ext cx="11277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</a:rPr>
              <a:t>PHQ-9 = 6（轻度）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749040" y="2245360"/>
            <a:ext cx="347472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825240" y="2321560"/>
            <a:ext cx="33223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</a:rPr>
              <a:t>"室友都找到工作了，我撑不住了"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223760" y="2245360"/>
            <a:ext cx="100584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99960" y="2321560"/>
            <a:ext cx="8534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微软雅黑"/>
              </a:rPr>
              <a:t>MEDIUM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29600" y="2245360"/>
            <a:ext cx="338328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05800" y="2321560"/>
            <a:ext cx="32308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</a:rPr>
              <a:t>命中"撑不住"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2296160"/>
            <a:ext cx="822960" cy="4064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4840" y="2372360"/>
            <a:ext cx="6705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</a:rPr>
              <a:t>案例 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0" y="2296160"/>
            <a:ext cx="1097280" cy="4064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447800" y="2372360"/>
            <a:ext cx="9448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</a:rPr>
              <a:t>大一新生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68880" y="2296160"/>
            <a:ext cx="1280160" cy="4064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545080" y="2372360"/>
            <a:ext cx="11277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</a:rPr>
              <a:t>PHQ-9 = 3（正常）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749040" y="2296160"/>
            <a:ext cx="3474720" cy="4064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825240" y="2372360"/>
            <a:ext cx="33223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</a:rPr>
              <a:t>"军训太累了，不想上学"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223760" y="2296160"/>
            <a:ext cx="1005840" cy="4064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9960" y="2372360"/>
            <a:ext cx="8534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微软雅黑"/>
              </a:rPr>
              <a:t>MEDIUM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229600" y="2296160"/>
            <a:ext cx="3383280" cy="406400"/>
          </a:xfrm>
          <a:prstGeom prst="rect">
            <a:avLst/>
          </a:prstGeom>
          <a:solidFill>
            <a:srgbClr val="EEF2F5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305800" y="2372360"/>
            <a:ext cx="32308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</a:rPr>
              <a:t>命中"不想上学"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48640" y="2346960"/>
            <a:ext cx="82296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24840" y="2423160"/>
            <a:ext cx="6705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</a:rPr>
              <a:t>案例 5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71600" y="2346960"/>
            <a:ext cx="109728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447800" y="2423160"/>
            <a:ext cx="9448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</a:rPr>
              <a:t>大二学生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468880" y="2346960"/>
            <a:ext cx="128016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545080" y="2423160"/>
            <a:ext cx="112776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</a:rPr>
              <a:t>PHQ-9 = 5（轻度）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749040" y="2346960"/>
            <a:ext cx="347472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825240" y="2423160"/>
            <a:ext cx="332232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</a:rPr>
              <a:t>"期末压力大，感觉要崩溃了"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223760" y="2346960"/>
            <a:ext cx="100584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299960" y="2423160"/>
            <a:ext cx="8534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微软雅黑"/>
              </a:rPr>
              <a:t>MEDIUM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229600" y="2346960"/>
            <a:ext cx="3383280" cy="4064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305800" y="2423160"/>
            <a:ext cx="32308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微软雅黑"/>
              </a:rPr>
              <a:t>命中"压力大" + R003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48640" y="4846320"/>
            <a:ext cx="11064240" cy="17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7A3AC"/>
                </a:solidFill>
                <a:latin typeface="微软雅黑"/>
              </a:rPr>
              <a:t>说明：以上 5 例全部根据真实校园心理工作场景改编（已脱敏）。纯 PHQ-9 均判为"正常"（&lt;10 分）。</a:t>
            </a:r>
          </a:p>
        </p:txBody>
      </p:sp>
      <p:graphicFrame>
        <p:nvGraphicFramePr>
          <p:cNvPr id="81" name="Chart 80"/>
          <p:cNvGraphicFramePr>
            <a:graphicFrameLocks noGrp="1"/>
          </p:cNvGraphicFramePr>
          <p:nvPr/>
        </p:nvGraphicFramePr>
        <p:xfrm>
          <a:off x="548640" y="5029200"/>
          <a:ext cx="11064240" cy="1371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7A6E"/>
                </a:solidFill>
                <a:latin typeface="微软雅黑"/>
              </a:rPr>
              <a:t>06 · 效果验证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微软雅黑"/>
              </a:rPr>
              <a:t>方案可行性 · 成本 ≈ 0 元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463040" cy="381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7A3AC"/>
                </a:solidFill>
                <a:latin typeface="微软雅黑"/>
              </a:rPr>
              <a:t>MindGuard · 神经符号双引擎心理风险筛查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3774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7A3AC"/>
                </a:solidFill>
                <a:latin typeface="微软雅黑"/>
              </a:rPr>
              <a:t>18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2697480" cy="43891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2697480" cy="508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5640" y="1874519"/>
            <a:ext cx="2514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3A5C"/>
                </a:solidFill>
                <a:latin typeface="微软雅黑"/>
              </a:rPr>
              <a:t>技术可行性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5640" y="2270760"/>
            <a:ext cx="50800" cy="508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640" y="2219960"/>
            <a:ext cx="23774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FastAPI/SQLite/ECharts 生产级成熟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5640" y="2626360"/>
            <a:ext cx="50800" cy="508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2640" y="2575560"/>
            <a:ext cx="23774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核心引擎自研（纯 Python）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5640" y="2981960"/>
            <a:ext cx="50800" cy="508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2640" y="2931160"/>
            <a:ext cx="23774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requirements.txt 仅 7 个核心包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5640" y="3337560"/>
            <a:ext cx="50800" cy="5080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2640" y="3286760"/>
            <a:ext cx="23774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PyInstaller 解压即用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9000" y="1737360"/>
            <a:ext cx="2697480" cy="43891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29000" y="1737360"/>
            <a:ext cx="2697480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56000" y="1874519"/>
            <a:ext cx="2514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7A6E"/>
                </a:solidFill>
                <a:latin typeface="微软雅黑"/>
              </a:rPr>
              <a:t>经济可行性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56000" y="2270760"/>
            <a:ext cx="50800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83000" y="2219960"/>
            <a:ext cx="23774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硬件：复用现有服务器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56000" y="2626360"/>
            <a:ext cx="50800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83000" y="2575560"/>
            <a:ext cx="23774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软件：全部开源 MIT/Apache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56000" y="2981960"/>
            <a:ext cx="50800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83000" y="2931160"/>
            <a:ext cx="23774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LLM API：可选配置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56000" y="3337560"/>
            <a:ext cx="50800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83000" y="3286760"/>
            <a:ext cx="23774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量表：PHQ-9/GAD-7 公共领域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56000" y="3693160"/>
            <a:ext cx="50800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83000" y="3642360"/>
            <a:ext cx="23774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合计 ≈ 0 元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1737360"/>
            <a:ext cx="2697480" cy="43891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09360" y="1737360"/>
            <a:ext cx="2697480" cy="50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36360" y="1874519"/>
            <a:ext cx="2514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微软雅黑"/>
              </a:rPr>
              <a:t>推广价值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36360" y="2270760"/>
            <a:ext cx="50800" cy="50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63360" y="2219960"/>
            <a:ext cx="23774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响应教育部教育纲要方向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36360" y="2626360"/>
            <a:ext cx="50800" cy="50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63360" y="2575560"/>
            <a:ext cx="23774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试点：本校 50-100 志愿者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36360" y="2981960"/>
            <a:ext cx="50800" cy="50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63360" y="2931160"/>
            <a:ext cx="23774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同类院校解压即用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36360" y="3337560"/>
            <a:ext cx="50800" cy="50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63360" y="3286760"/>
            <a:ext cx="23774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5 分钟部署完成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36360" y="3693160"/>
            <a:ext cx="50800" cy="50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63360" y="3642360"/>
            <a:ext cx="23774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无 GPU / 无外部数据库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89720" y="1737360"/>
            <a:ext cx="2697480" cy="43891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189720" y="1737360"/>
            <a:ext cx="2697480" cy="50800"/>
          </a:xfrm>
          <a:prstGeom prst="rect">
            <a:avLst/>
          </a:prstGeom>
          <a:solidFill>
            <a:srgbClr val="AC4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16720" y="1874519"/>
            <a:ext cx="251460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C4E42"/>
                </a:solidFill>
                <a:latin typeface="微软雅黑"/>
              </a:rPr>
              <a:t>部署要求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316720" y="2270760"/>
            <a:ext cx="50800" cy="50800"/>
          </a:xfrm>
          <a:prstGeom prst="rect">
            <a:avLst/>
          </a:prstGeom>
          <a:solidFill>
            <a:srgbClr val="AC4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443720" y="2219960"/>
            <a:ext cx="23774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Python 3.11 环境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316720" y="2626360"/>
            <a:ext cx="50800" cy="50800"/>
          </a:xfrm>
          <a:prstGeom prst="rect">
            <a:avLst/>
          </a:prstGeom>
          <a:solidFill>
            <a:srgbClr val="AC4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443720" y="2575560"/>
            <a:ext cx="23774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  或 PyInstaller 打包版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316720" y="2981960"/>
            <a:ext cx="50800" cy="50800"/>
          </a:xfrm>
          <a:prstGeom prst="rect">
            <a:avLst/>
          </a:prstGeom>
          <a:solidFill>
            <a:srgbClr val="AC4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443720" y="2931160"/>
            <a:ext cx="23774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数据库：SQLite 自动建表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316720" y="3337560"/>
            <a:ext cx="50800" cy="50800"/>
          </a:xfrm>
          <a:prstGeom prst="rect">
            <a:avLst/>
          </a:prstGeom>
          <a:solidFill>
            <a:srgbClr val="AC4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43720" y="3286760"/>
            <a:ext cx="23774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端口：8000（可配置）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316720" y="3693160"/>
            <a:ext cx="50800" cy="50800"/>
          </a:xfrm>
          <a:prstGeom prst="rect">
            <a:avLst/>
          </a:prstGeom>
          <a:solidFill>
            <a:srgbClr val="AC4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443720" y="3642360"/>
            <a:ext cx="237744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535C"/>
                </a:solidFill>
                <a:latin typeface="微软雅黑"/>
              </a:rPr>
              <a:t>浏览器：Chrome / Edge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7A6E"/>
                </a:solidFill>
                <a:latin typeface="微软雅黑"/>
              </a:rPr>
              <a:t>07 · 团队与计划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微软雅黑"/>
              </a:rPr>
              <a:t>团队分工 · 实施里程碑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463040" cy="381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7A3AC"/>
                </a:solidFill>
                <a:latin typeface="微软雅黑"/>
              </a:rPr>
              <a:t>MindGuard · 神经符号双引擎心理风险筛查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3774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7A3AC"/>
                </a:solidFill>
                <a:latin typeface="微软雅黑"/>
              </a:rPr>
              <a:t>19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5303520" cy="43891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5303520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74519"/>
            <a:ext cx="51206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7A6E"/>
                </a:solidFill>
                <a:latin typeface="微软雅黑"/>
              </a:rPr>
              <a:t>团队成员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286000"/>
            <a:ext cx="4937760" cy="1691640"/>
          </a:xfrm>
          <a:prstGeom prst="rect">
            <a:avLst/>
          </a:prstGeom>
          <a:solidFill>
            <a:srgbClr val="F1F5F9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2468880"/>
            <a:ext cx="731520" cy="73152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4688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微软雅黑"/>
              </a:rPr>
              <a:t>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336800"/>
            <a:ext cx="384048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A5C"/>
                </a:solidFill>
                <a:latin typeface="微软雅黑"/>
              </a:rPr>
              <a:t>阮家炜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616200"/>
            <a:ext cx="38404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A6E"/>
                </a:solidFill>
                <a:latin typeface="微软雅黑"/>
              </a:rPr>
              <a:t>负责人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2895600"/>
            <a:ext cx="3840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后端架构设计 · 神经符号引擎核心开发
规则知识库 · 危机分级系统 · 对比实验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160519"/>
            <a:ext cx="4937760" cy="1691640"/>
          </a:xfrm>
          <a:prstGeom prst="rect">
            <a:avLst/>
          </a:prstGeom>
          <a:solidFill>
            <a:srgbClr val="F1F5F9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4343399"/>
            <a:ext cx="731520" cy="73152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343399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微软雅黑"/>
              </a:rPr>
              <a:t>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211319"/>
            <a:ext cx="3840480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3A5C"/>
                </a:solidFill>
                <a:latin typeface="微软雅黑"/>
              </a:rPr>
              <a:t>张修瑜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490719"/>
            <a:ext cx="3840480" cy="25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7A6E"/>
                </a:solidFill>
                <a:latin typeface="微软雅黑"/>
              </a:rPr>
              <a:t>成员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770119"/>
            <a:ext cx="3840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前端 Vue3 + ECharts 开发
系统演示 · 文档编写 · 数据整理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737360"/>
            <a:ext cx="5394960" cy="438912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1737360"/>
            <a:ext cx="5394960" cy="50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874519"/>
            <a:ext cx="5212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  <a:latin typeface="微软雅黑"/>
              </a:rPr>
              <a:t>实施里程碑</a:t>
            </a:r>
          </a:p>
        </p:txBody>
      </p:sp>
      <p:sp>
        <p:nvSpPr>
          <p:cNvPr id="26" name="Oval 25"/>
          <p:cNvSpPr/>
          <p:nvPr/>
        </p:nvSpPr>
        <p:spPr>
          <a:xfrm>
            <a:off x="6583680" y="2387600"/>
            <a:ext cx="177800" cy="1778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47180" y="2565400"/>
            <a:ext cx="25400" cy="53035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12280" y="2336800"/>
            <a:ext cx="12801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97706"/>
                </a:solidFill>
                <a:latin typeface="微软雅黑"/>
              </a:rPr>
              <a:t>2026 Q2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23114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需求分析 · 技术选型 · FastAPI+Vue3 基础架构</a:t>
            </a:r>
          </a:p>
        </p:txBody>
      </p:sp>
      <p:sp>
        <p:nvSpPr>
          <p:cNvPr id="30" name="Oval 29"/>
          <p:cNvSpPr/>
          <p:nvPr/>
        </p:nvSpPr>
        <p:spPr>
          <a:xfrm>
            <a:off x="6583680" y="3045968"/>
            <a:ext cx="177800" cy="1778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647180" y="3223768"/>
            <a:ext cx="25400" cy="53035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12280" y="2995168"/>
            <a:ext cx="12801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97706"/>
                </a:solidFill>
                <a:latin typeface="微软雅黑"/>
              </a:rPr>
              <a:t>2026 Q3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296976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双引擎核心 · 规则库+危机分级 · RAG+LLM 集成</a:t>
            </a:r>
          </a:p>
        </p:txBody>
      </p:sp>
      <p:sp>
        <p:nvSpPr>
          <p:cNvPr id="34" name="Oval 33"/>
          <p:cNvSpPr/>
          <p:nvPr/>
        </p:nvSpPr>
        <p:spPr>
          <a:xfrm>
            <a:off x="6583680" y="3704336"/>
            <a:ext cx="177800" cy="1778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647180" y="3882136"/>
            <a:ext cx="25400" cy="53035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12280" y="3653536"/>
            <a:ext cx="12801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97706"/>
                </a:solidFill>
                <a:latin typeface="微软雅黑"/>
              </a:rPr>
              <a:t>2026 Q4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38160" y="3628136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前端 6 页联调 · 118 例对比实验 · 试用意向书</a:t>
            </a:r>
          </a:p>
        </p:txBody>
      </p:sp>
      <p:sp>
        <p:nvSpPr>
          <p:cNvPr id="38" name="Oval 37"/>
          <p:cNvSpPr/>
          <p:nvPr/>
        </p:nvSpPr>
        <p:spPr>
          <a:xfrm>
            <a:off x="6583680" y="4362704"/>
            <a:ext cx="177800" cy="1778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647180" y="4540504"/>
            <a:ext cx="25400" cy="530352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12280" y="4311904"/>
            <a:ext cx="12801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97706"/>
                </a:solidFill>
                <a:latin typeface="微软雅黑"/>
              </a:rPr>
              <a:t>2027 Q1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8160" y="4286504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本校心理中心试点 · 双盲评估 · 输出效果报告</a:t>
            </a:r>
          </a:p>
        </p:txBody>
      </p:sp>
      <p:sp>
        <p:nvSpPr>
          <p:cNvPr id="42" name="Oval 41"/>
          <p:cNvSpPr/>
          <p:nvPr/>
        </p:nvSpPr>
        <p:spPr>
          <a:xfrm>
            <a:off x="6583680" y="5021072"/>
            <a:ext cx="177800" cy="1778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12280" y="4970272"/>
            <a:ext cx="128016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97706"/>
                </a:solidFill>
                <a:latin typeface="微软雅黑"/>
              </a:rPr>
              <a:t>2027 Q2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38160" y="494487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推广 2-3 所兄弟院校 · V2.0 BERT 语义向量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97280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7A6E"/>
                </a:solidFill>
                <a:latin typeface="微软雅黑"/>
              </a:rPr>
              <a:t>07 · 总结与展望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3A5C"/>
                </a:solidFill>
                <a:latin typeface="微软雅黑"/>
              </a:rPr>
              <a:t>核心结论 + 未来方向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463040" cy="381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5486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7A3AC"/>
                </a:solidFill>
                <a:latin typeface="微软雅黑"/>
              </a:rPr>
              <a:t>MindGuard · 神经符号双引擎心理风险筛查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446520"/>
            <a:ext cx="237744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7A3AC"/>
                </a:solidFill>
                <a:latin typeface="微软雅黑"/>
              </a:rPr>
              <a:t>20 / 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5303520" cy="3657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737360"/>
            <a:ext cx="5303520" cy="508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74519"/>
            <a:ext cx="512064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7A6E"/>
                </a:solidFill>
                <a:latin typeface="微软雅黑"/>
              </a:rPr>
              <a:t>📌 四条核心结论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316480"/>
            <a:ext cx="76200" cy="4064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24028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  <a:latin typeface="微软雅黑"/>
              </a:rPr>
              <a:t>问题定位准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68880"/>
            <a:ext cx="47548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直击三大痛点：漏检率高 / 缺乏可解释性 / 建议同质化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139440"/>
            <a:ext cx="76200" cy="4064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06324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  <a:latin typeface="微软雅黑"/>
              </a:rPr>
              <a:t>技术路线新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291840"/>
            <a:ext cx="47548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可解释神经符号双引擎，区别于 BERT/LLM 黑箱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962400"/>
            <a:ext cx="76200" cy="4064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88620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  <a:latin typeface="微软雅黑"/>
              </a:rPr>
              <a:t>效果数据实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114800"/>
            <a:ext cx="47548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118 例：检出率提升 16.3% · 12 例隐性危机全检出 · 假阳性减 72.7%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785360"/>
            <a:ext cx="76200" cy="406400"/>
          </a:xfrm>
          <a:prstGeom prst="rect">
            <a:avLst/>
          </a:prstGeom>
          <a:solidFill>
            <a:srgbClr val="1C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70916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3A5C"/>
                </a:solidFill>
                <a:latin typeface="微软雅黑"/>
              </a:rPr>
              <a:t>工程化完成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937760"/>
            <a:ext cx="47548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纯 Python · PyInstaller 一键打包 · 零新依赖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737360"/>
            <a:ext cx="5394960" cy="3657600"/>
          </a:xfrm>
          <a:prstGeom prst="rect">
            <a:avLst/>
          </a:prstGeom>
          <a:solidFill>
            <a:srgbClr val="F8FAFC"/>
          </a:solidFill>
          <a:ln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1737360"/>
            <a:ext cx="5394960" cy="50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874519"/>
            <a:ext cx="5212080" cy="27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  <a:latin typeface="微软雅黑"/>
              </a:rPr>
              <a:t>🔮 五个未来改进方向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2341880"/>
            <a:ext cx="50800" cy="50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2265680"/>
            <a:ext cx="914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97706"/>
                </a:solidFill>
                <a:latin typeface="微软雅黑"/>
              </a:rPr>
              <a:t>V2.0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2265680"/>
            <a:ext cx="393192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语音模态：librosa + Whisper，启用 2 维预留特征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2945384"/>
            <a:ext cx="50800" cy="50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2869184"/>
            <a:ext cx="914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97706"/>
                </a:solidFill>
                <a:latin typeface="微软雅黑"/>
              </a:rPr>
              <a:t>V2.0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2869184"/>
            <a:ext cx="393192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语义向量：轻量中文 SBERT 替代关键词匹配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3548888"/>
            <a:ext cx="50800" cy="50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3472688"/>
            <a:ext cx="914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97706"/>
                </a:solidFill>
                <a:latin typeface="微软雅黑"/>
              </a:rPr>
              <a:t>真实试点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3472688"/>
            <a:ext cx="393192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本校心理中心 50-100 志愿者双盲评估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4152392"/>
            <a:ext cx="50800" cy="50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4076192"/>
            <a:ext cx="914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97706"/>
                </a:solidFill>
                <a:latin typeface="微软雅黑"/>
              </a:rPr>
              <a:t>推广扩展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79" y="4076192"/>
            <a:ext cx="393192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2-3 所兄弟院校 + 试点报告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4755896"/>
            <a:ext cx="50800" cy="508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0" y="4679696"/>
            <a:ext cx="914400" cy="2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97706"/>
                </a:solidFill>
                <a:latin typeface="微软雅黑"/>
              </a:rPr>
              <a:t>学术产出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79" y="4679696"/>
            <a:ext cx="3931920" cy="43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535C"/>
                </a:solidFill>
                <a:latin typeface="微软雅黑"/>
              </a:rPr>
              <a:t>会议论文 CCML/CHIL · 软著申请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5577840"/>
            <a:ext cx="12188952" cy="1280160"/>
          </a:xfrm>
          <a:prstGeom prst="rect">
            <a:avLst/>
          </a:prstGeom>
          <a:solidFill>
            <a:srgbClr val="1A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0" y="5669280"/>
            <a:ext cx="12188952" cy="40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微软雅黑"/>
              </a:rPr>
              <a:t>感谢聆听 · 欢迎提问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0350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00" b="1">
                <a:solidFill>
                  <a:srgbClr val="1C7A6E"/>
                </a:solidFill>
                <a:latin typeface="微软雅黑"/>
              </a:rPr>
              <a:t>MindGuard · 神经符号双引擎驱动的校园心理风险智能筛查与干预系统</a:t>
            </a:r>
          </a:p>
          <a:p>
            <a:pPr>
              <a:spcAft>
                <a:spcPts val="300"/>
              </a:spcAft>
            </a:pPr>
            <a:r>
              <a:rPr sz="1000" b="0">
                <a:solidFill>
                  <a:srgbClr val="97A3AC"/>
                </a:solidFill>
                <a:latin typeface="微软雅黑"/>
              </a:rPr>
              <a:t>团队：阮家炜（负责人） · 张修瑜    |    答辩 PPT · 2026 年 9 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